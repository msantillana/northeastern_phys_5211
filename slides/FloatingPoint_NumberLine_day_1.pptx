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5"/>
  </p:notesMasterIdLst>
  <p:sldIdLst>
    <p:sldId id="256" r:id="rId2"/>
    <p:sldId id="257" r:id="rId3"/>
    <p:sldId id="258" r:id="rId4"/>
  </p:sldIdLst>
  <p:sldSz cx="12192000" cy="6858000"/>
  <p:notesSz cx="6858000" cy="12192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9529"/>
    <p:restoredTop sz="94610"/>
  </p:normalViewPr>
  <p:slideViewPr>
    <p:cSldViewPr snapToGrid="0" snapToObjects="1">
      <p:cViewPr varScale="1">
        <p:scale>
          <a:sx n="96" d="100"/>
          <a:sy n="96" d="100"/>
        </p:scale>
        <p:origin x="424" y="160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viewProps" Target="view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presProps" Target="presProps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3.xml"/><Relationship Id="rId9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686105022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REPRESENTATION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534095" y="256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Fully Enumerable Toy System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Finite by Design: How Many Numbers Can We Represent?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β = 2  (base)     p = 3  (precision)     L = −1  (min exponent)     U = 2  (max exponent)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7295" cy="868680"/>
          </a:xfrm>
          <a:prstGeom prst="roundRect">
            <a:avLst>
              <a:gd name="adj" fmla="val 10526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01600" dist="25400" dir="5400000" algn="bl" rotWithShape="0">
              <a:srgbClr val="9AA6B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1783080"/>
            <a:ext cx="10820095" cy="8686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7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Normalized form:   </a:t>
            </a:r>
            <a:r>
              <a:rPr lang="en-US" sz="17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± (1 . d₁ d₂)₂ × 2 e</a:t>
            </a:r>
            <a:r>
              <a:rPr lang="en-US" sz="1700" i="1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    with d₁, d₂ ∈ {0,1}  and  e ∈ {−1, 0, 1, 2}</a:t>
            </a:r>
            <a:endParaRPr lang="en-US" sz="1700" dirty="0"/>
          </a:p>
        </p:txBody>
      </p:sp>
      <p:sp>
        <p:nvSpPr>
          <p:cNvPr id="8" name="Shape 6"/>
          <p:cNvSpPr/>
          <p:nvPr/>
        </p:nvSpPr>
        <p:spPr>
          <a:xfrm>
            <a:off x="495148" y="283464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01600" dist="25400" dir="5400000" algn="bl" rotWithShape="0">
              <a:srgbClr val="9AA6B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495148" y="294436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2C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2² = 4</a:t>
            </a:r>
            <a:endParaRPr lang="en-US" sz="2400" dirty="0"/>
          </a:p>
        </p:txBody>
      </p:sp>
      <p:sp>
        <p:nvSpPr>
          <p:cNvPr id="10" name="Text 8"/>
          <p:cNvSpPr txBox="1"/>
          <p:nvPr/>
        </p:nvSpPr>
        <p:spPr>
          <a:xfrm>
            <a:off x="632308" y="34290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mantissas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(d₁d₂ free, d₀ fixed = 1)</a:t>
            </a:r>
            <a:endParaRPr lang="en-US" sz="1150" dirty="0"/>
          </a:p>
        </p:txBody>
      </p:sp>
      <p:sp>
        <p:nvSpPr>
          <p:cNvPr id="11" name="Shape 9"/>
          <p:cNvSpPr/>
          <p:nvPr/>
        </p:nvSpPr>
        <p:spPr>
          <a:xfrm>
            <a:off x="4335628" y="283464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01600" dist="25400" dir="5400000" algn="bl" rotWithShape="0">
              <a:srgbClr val="9AA6B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 txBox="1"/>
          <p:nvPr/>
        </p:nvSpPr>
        <p:spPr>
          <a:xfrm>
            <a:off x="4335628" y="294436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A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U−L+1 = 4</a:t>
            </a:r>
            <a:endParaRPr lang="en-US" sz="2400" dirty="0"/>
          </a:p>
        </p:txBody>
      </p:sp>
      <p:sp>
        <p:nvSpPr>
          <p:cNvPr id="13" name="Text 11"/>
          <p:cNvSpPr txBox="1"/>
          <p:nvPr/>
        </p:nvSpPr>
        <p:spPr>
          <a:xfrm>
            <a:off x="4472788" y="34290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possible exponents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(e = −1, 0, 1, 2)</a:t>
            </a:r>
            <a:endParaRPr lang="en-US" sz="1150" dirty="0"/>
          </a:p>
        </p:txBody>
      </p:sp>
      <p:sp>
        <p:nvSpPr>
          <p:cNvPr id="14" name="Shape 12"/>
          <p:cNvSpPr/>
          <p:nvPr/>
        </p:nvSpPr>
        <p:spPr>
          <a:xfrm>
            <a:off x="8176108" y="2834640"/>
            <a:ext cx="3520440" cy="1143000"/>
          </a:xfrm>
          <a:prstGeom prst="roundRect">
            <a:avLst>
              <a:gd name="adj" fmla="val 8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01600" dist="25400" dir="5400000" algn="bl" rotWithShape="0">
              <a:srgbClr val="9AA6B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8176108" y="2944368"/>
            <a:ext cx="352044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 × 4 × 2 + 1 = 33</a:t>
            </a:r>
            <a:endParaRPr lang="en-US" sz="2400" dirty="0"/>
          </a:p>
        </p:txBody>
      </p:sp>
      <p:sp>
        <p:nvSpPr>
          <p:cNvPr id="16" name="Text 14"/>
          <p:cNvSpPr txBox="1"/>
          <p:nvPr/>
        </p:nvSpPr>
        <p:spPr>
          <a:xfrm>
            <a:off x="8313268" y="3429000"/>
            <a:ext cx="324612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total representable numbers</a:t>
            </a:r>
            <a:endParaRPr lang="en-US" sz="1150" dirty="0"/>
          </a:p>
          <a:p>
            <a:pPr marL="0" indent="0" algn="ctr">
              <a:buNone/>
            </a:pPr>
            <a:r>
              <a:rPr lang="en-US" sz="115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(×2 for sign, +1 for zero)</a:t>
            </a:r>
            <a:endParaRPr lang="en-US" sz="1150" dirty="0"/>
          </a:p>
        </p:txBody>
      </p:sp>
      <p:sp>
        <p:nvSpPr>
          <p:cNvPr id="17" name="Shape 15"/>
          <p:cNvSpPr/>
          <p:nvPr/>
        </p:nvSpPr>
        <p:spPr>
          <a:xfrm>
            <a:off x="914400" y="5063947"/>
            <a:ext cx="10332720" cy="21946"/>
          </a:xfrm>
          <a:prstGeom prst="rect">
            <a:avLst/>
          </a:prstGeom>
          <a:solidFill>
            <a:srgbClr val="C7CE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897941" y="4818888"/>
            <a:ext cx="32918" cy="512064"/>
          </a:xfrm>
          <a:prstGeom prst="rect">
            <a:avLst/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594360" y="5349240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</a:t>
            </a:r>
            <a:endParaRPr lang="en-US" sz="1400" dirty="0"/>
          </a:p>
        </p:txBody>
      </p:sp>
      <p:sp>
        <p:nvSpPr>
          <p:cNvPr id="20" name="Text 18"/>
          <p:cNvSpPr txBox="1"/>
          <p:nvPr/>
        </p:nvSpPr>
        <p:spPr>
          <a:xfrm>
            <a:off x="411480" y="5641848"/>
            <a:ext cx="1005840" cy="4572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900" i="1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(zero is a</a:t>
            </a:r>
            <a:endParaRPr lang="en-US" sz="900" dirty="0"/>
          </a:p>
          <a:p>
            <a:pPr marL="0" indent="0" algn="ctr">
              <a:buNone/>
            </a:pPr>
            <a:r>
              <a:rPr lang="en-US" sz="900" i="1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special value)</a:t>
            </a:r>
            <a:endParaRPr lang="en-US" sz="900" dirty="0"/>
          </a:p>
        </p:txBody>
      </p:sp>
      <p:sp>
        <p:nvSpPr>
          <p:cNvPr id="21" name="Shape 19"/>
          <p:cNvSpPr/>
          <p:nvPr/>
        </p:nvSpPr>
        <p:spPr>
          <a:xfrm>
            <a:off x="1635992" y="4818888"/>
            <a:ext cx="32918" cy="512064"/>
          </a:xfrm>
          <a:prstGeom prst="rect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 txBox="1"/>
          <p:nvPr/>
        </p:nvSpPr>
        <p:spPr>
          <a:xfrm>
            <a:off x="1286691" y="5349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2C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0.5</a:t>
            </a:r>
            <a:endParaRPr lang="en-US" sz="1400" dirty="0"/>
          </a:p>
        </p:txBody>
      </p:sp>
      <p:sp>
        <p:nvSpPr>
          <p:cNvPr id="23" name="Shape 21"/>
          <p:cNvSpPr/>
          <p:nvPr/>
        </p:nvSpPr>
        <p:spPr>
          <a:xfrm>
            <a:off x="1826906" y="4928616"/>
            <a:ext cx="20117" cy="292608"/>
          </a:xfrm>
          <a:prstGeom prst="rect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2011419" y="4928616"/>
            <a:ext cx="20117" cy="292608"/>
          </a:xfrm>
          <a:prstGeom prst="rect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2195932" y="4928616"/>
            <a:ext cx="20117" cy="292608"/>
          </a:xfrm>
          <a:prstGeom prst="rect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2374044" y="4818888"/>
            <a:ext cx="32918" cy="512064"/>
          </a:xfrm>
          <a:prstGeom prst="rect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2024743" y="5349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1</a:t>
            </a:r>
            <a:endParaRPr lang="en-US" sz="1400" dirty="0"/>
          </a:p>
        </p:txBody>
      </p:sp>
      <p:sp>
        <p:nvSpPr>
          <p:cNvPr id="28" name="Shape 26"/>
          <p:cNvSpPr/>
          <p:nvPr/>
        </p:nvSpPr>
        <p:spPr>
          <a:xfrm>
            <a:off x="2749470" y="4928616"/>
            <a:ext cx="20117" cy="292608"/>
          </a:xfrm>
          <a:prstGeom prst="rect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3118496" y="4928616"/>
            <a:ext cx="20117" cy="292608"/>
          </a:xfrm>
          <a:prstGeom prst="rect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3487522" y="4928616"/>
            <a:ext cx="20117" cy="292608"/>
          </a:xfrm>
          <a:prstGeom prst="rect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1" name="Shape 29"/>
          <p:cNvSpPr/>
          <p:nvPr/>
        </p:nvSpPr>
        <p:spPr>
          <a:xfrm>
            <a:off x="3850147" y="4818888"/>
            <a:ext cx="32918" cy="512064"/>
          </a:xfrm>
          <a:prstGeom prst="rect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 txBox="1"/>
          <p:nvPr/>
        </p:nvSpPr>
        <p:spPr>
          <a:xfrm>
            <a:off x="3500846" y="5349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A63A29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2</a:t>
            </a:r>
            <a:endParaRPr lang="en-US" sz="1400" dirty="0"/>
          </a:p>
        </p:txBody>
      </p:sp>
      <p:sp>
        <p:nvSpPr>
          <p:cNvPr id="33" name="Shape 31"/>
          <p:cNvSpPr/>
          <p:nvPr/>
        </p:nvSpPr>
        <p:spPr>
          <a:xfrm>
            <a:off x="4594599" y="4928616"/>
            <a:ext cx="20117" cy="292608"/>
          </a:xfrm>
          <a:prstGeom prst="rect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4" name="Shape 32"/>
          <p:cNvSpPr/>
          <p:nvPr/>
        </p:nvSpPr>
        <p:spPr>
          <a:xfrm>
            <a:off x="5332650" y="4928616"/>
            <a:ext cx="20117" cy="292608"/>
          </a:xfrm>
          <a:prstGeom prst="rect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6070702" y="4928616"/>
            <a:ext cx="20117" cy="292608"/>
          </a:xfrm>
          <a:prstGeom prst="rect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6" name="Shape 34"/>
          <p:cNvSpPr/>
          <p:nvPr/>
        </p:nvSpPr>
        <p:spPr>
          <a:xfrm>
            <a:off x="6802352" y="4818888"/>
            <a:ext cx="32918" cy="512064"/>
          </a:xfrm>
          <a:prstGeom prst="rect">
            <a:avLst/>
          </a:prstGeom>
          <a:solidFill>
            <a:srgbClr val="6B4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6453051" y="5349240"/>
            <a:ext cx="73152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4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38" name="Shape 36"/>
          <p:cNvSpPr/>
          <p:nvPr/>
        </p:nvSpPr>
        <p:spPr>
          <a:xfrm>
            <a:off x="8284856" y="4928616"/>
            <a:ext cx="20117" cy="292608"/>
          </a:xfrm>
          <a:prstGeom prst="rect">
            <a:avLst/>
          </a:prstGeom>
          <a:solidFill>
            <a:srgbClr val="6B4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39" name="Shape 37"/>
          <p:cNvSpPr/>
          <p:nvPr/>
        </p:nvSpPr>
        <p:spPr>
          <a:xfrm>
            <a:off x="9760959" y="4928616"/>
            <a:ext cx="20117" cy="292608"/>
          </a:xfrm>
          <a:prstGeom prst="rect">
            <a:avLst/>
          </a:prstGeom>
          <a:solidFill>
            <a:srgbClr val="6B4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0" name="Shape 38"/>
          <p:cNvSpPr/>
          <p:nvPr/>
        </p:nvSpPr>
        <p:spPr>
          <a:xfrm>
            <a:off x="11237062" y="4928616"/>
            <a:ext cx="20117" cy="292608"/>
          </a:xfrm>
          <a:prstGeom prst="rect">
            <a:avLst/>
          </a:prstGeom>
          <a:solidFill>
            <a:srgbClr val="6B4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11230661" y="4782312"/>
            <a:ext cx="32918" cy="585216"/>
          </a:xfrm>
          <a:prstGeom prst="rect">
            <a:avLst/>
          </a:prstGeom>
          <a:solidFill>
            <a:srgbClr val="6B4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 txBox="1"/>
          <p:nvPr/>
        </p:nvSpPr>
        <p:spPr>
          <a:xfrm>
            <a:off x="10744200" y="4416552"/>
            <a:ext cx="11887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6B4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 = MAX</a:t>
            </a:r>
            <a:endParaRPr lang="en-US" sz="1300" dirty="0"/>
          </a:p>
        </p:txBody>
      </p:sp>
      <p:sp>
        <p:nvSpPr>
          <p:cNvPr id="43" name="Shape 41"/>
          <p:cNvSpPr/>
          <p:nvPr/>
        </p:nvSpPr>
        <p:spPr>
          <a:xfrm>
            <a:off x="1652451" y="5989320"/>
            <a:ext cx="553539" cy="16459"/>
          </a:xfrm>
          <a:prstGeom prst="rect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1652451" y="5925312"/>
            <a:ext cx="16459" cy="146304"/>
          </a:xfrm>
          <a:prstGeom prst="rect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5" name="Shape 43"/>
          <p:cNvSpPr/>
          <p:nvPr/>
        </p:nvSpPr>
        <p:spPr>
          <a:xfrm>
            <a:off x="2189531" y="5925312"/>
            <a:ext cx="16459" cy="146304"/>
          </a:xfrm>
          <a:prstGeom prst="rect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6" name="Shape 44"/>
          <p:cNvSpPr/>
          <p:nvPr/>
        </p:nvSpPr>
        <p:spPr>
          <a:xfrm>
            <a:off x="2390503" y="5989320"/>
            <a:ext cx="1107077" cy="16459"/>
          </a:xfrm>
          <a:prstGeom prst="rect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2390503" y="5925312"/>
            <a:ext cx="16459" cy="146304"/>
          </a:xfrm>
          <a:prstGeom prst="rect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8" name="Shape 46"/>
          <p:cNvSpPr/>
          <p:nvPr/>
        </p:nvSpPr>
        <p:spPr>
          <a:xfrm>
            <a:off x="3481121" y="5925312"/>
            <a:ext cx="16459" cy="146304"/>
          </a:xfrm>
          <a:prstGeom prst="rect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49" name="Shape 47"/>
          <p:cNvSpPr/>
          <p:nvPr/>
        </p:nvSpPr>
        <p:spPr>
          <a:xfrm>
            <a:off x="3866606" y="5989320"/>
            <a:ext cx="2214154" cy="16459"/>
          </a:xfrm>
          <a:prstGeom prst="rect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866606" y="5925312"/>
            <a:ext cx="16459" cy="146304"/>
          </a:xfrm>
          <a:prstGeom prst="rect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1" name="Shape 49"/>
          <p:cNvSpPr/>
          <p:nvPr/>
        </p:nvSpPr>
        <p:spPr>
          <a:xfrm>
            <a:off x="6064301" y="5925312"/>
            <a:ext cx="16459" cy="146304"/>
          </a:xfrm>
          <a:prstGeom prst="rect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2" name="Shape 50"/>
          <p:cNvSpPr/>
          <p:nvPr/>
        </p:nvSpPr>
        <p:spPr>
          <a:xfrm>
            <a:off x="6818811" y="5989320"/>
            <a:ext cx="4428309" cy="16459"/>
          </a:xfrm>
          <a:prstGeom prst="rect">
            <a:avLst/>
          </a:prstGeom>
          <a:solidFill>
            <a:srgbClr val="6B4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6818811" y="5925312"/>
            <a:ext cx="16459" cy="146304"/>
          </a:xfrm>
          <a:prstGeom prst="rect">
            <a:avLst/>
          </a:prstGeom>
          <a:solidFill>
            <a:srgbClr val="6B4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4" name="Shape 52"/>
          <p:cNvSpPr/>
          <p:nvPr/>
        </p:nvSpPr>
        <p:spPr>
          <a:xfrm>
            <a:off x="11230661" y="5925312"/>
            <a:ext cx="16459" cy="146304"/>
          </a:xfrm>
          <a:prstGeom prst="rect">
            <a:avLst/>
          </a:prstGeom>
          <a:solidFill>
            <a:srgbClr val="6B4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5" name="Shape 53"/>
          <p:cNvSpPr/>
          <p:nvPr/>
        </p:nvSpPr>
        <p:spPr>
          <a:xfrm>
            <a:off x="457200" y="6291072"/>
            <a:ext cx="146304" cy="146304"/>
          </a:xfrm>
          <a:prstGeom prst="rect">
            <a:avLst/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6" name="Text 54"/>
          <p:cNvSpPr txBox="1"/>
          <p:nvPr/>
        </p:nvSpPr>
        <p:spPr>
          <a:xfrm>
            <a:off x="676656" y="6245352"/>
            <a:ext cx="254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2C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-1   ·   spacing = 0.125</a:t>
            </a:r>
            <a:endParaRPr lang="en-US" sz="1150" dirty="0"/>
          </a:p>
        </p:txBody>
      </p:sp>
      <p:sp>
        <p:nvSpPr>
          <p:cNvPr id="57" name="Shape 55"/>
          <p:cNvSpPr/>
          <p:nvPr/>
        </p:nvSpPr>
        <p:spPr>
          <a:xfrm>
            <a:off x="3276524" y="6291072"/>
            <a:ext cx="146304" cy="146304"/>
          </a:xfrm>
          <a:prstGeom prst="rect">
            <a:avLst/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58" name="Text 56"/>
          <p:cNvSpPr txBox="1"/>
          <p:nvPr/>
        </p:nvSpPr>
        <p:spPr>
          <a:xfrm>
            <a:off x="3495980" y="6245352"/>
            <a:ext cx="254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B88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0   ·   spacing = 0.25</a:t>
            </a:r>
            <a:endParaRPr lang="en-US" sz="1150" dirty="0"/>
          </a:p>
        </p:txBody>
      </p:sp>
      <p:sp>
        <p:nvSpPr>
          <p:cNvPr id="59" name="Shape 57"/>
          <p:cNvSpPr/>
          <p:nvPr/>
        </p:nvSpPr>
        <p:spPr>
          <a:xfrm>
            <a:off x="6095848" y="6291072"/>
            <a:ext cx="146304" cy="146304"/>
          </a:xfrm>
          <a:prstGeom prst="rect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 txBox="1"/>
          <p:nvPr/>
        </p:nvSpPr>
        <p:spPr>
          <a:xfrm>
            <a:off x="6315304" y="6245352"/>
            <a:ext cx="254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A6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1   ·   spacing = 0.5</a:t>
            </a:r>
            <a:endParaRPr lang="en-US" sz="1150" dirty="0"/>
          </a:p>
        </p:txBody>
      </p:sp>
      <p:sp>
        <p:nvSpPr>
          <p:cNvPr id="61" name="Shape 59"/>
          <p:cNvSpPr/>
          <p:nvPr/>
        </p:nvSpPr>
        <p:spPr>
          <a:xfrm>
            <a:off x="8915171" y="6291072"/>
            <a:ext cx="146304" cy="146304"/>
          </a:xfrm>
          <a:prstGeom prst="rect">
            <a:avLst/>
          </a:prstGeom>
          <a:solidFill>
            <a:srgbClr val="6B4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62" name="Text 60"/>
          <p:cNvSpPr txBox="1"/>
          <p:nvPr/>
        </p:nvSpPr>
        <p:spPr>
          <a:xfrm>
            <a:off x="9134627" y="6245352"/>
            <a:ext cx="2545004" cy="23774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150" b="1" dirty="0">
                <a:solidFill>
                  <a:srgbClr val="6B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 = 2   ·   spacing = 1</a:t>
            </a:r>
            <a:endParaRPr lang="en-US" sz="1150" dirty="0"/>
          </a:p>
        </p:txBody>
      </p:sp>
      <p:sp>
        <p:nvSpPr>
          <p:cNvPr id="63" name="Text 61"/>
          <p:cNvSpPr txBox="1"/>
          <p:nvPr/>
        </p:nvSpPr>
        <p:spPr>
          <a:xfrm>
            <a:off x="457200" y="6446520"/>
            <a:ext cx="11277295" cy="3657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150" i="1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Notice: the spacing between consecutive numbers doubles at every power-of-two boundary — floating-point numbers are dense near zero and sparse far away. By symmetry, 16 more negative numbers mirror these across zero.</a:t>
            </a:r>
            <a:endParaRPr lang="en-US" sz="1150" dirty="0"/>
          </a:p>
        </p:txBody>
      </p:sp>
      <p:sp>
        <p:nvSpPr>
          <p:cNvPr id="64" name="Text 62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2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REPRESENTATION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534095" y="256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Deriving Every Value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Every Positive Number in This System, Derived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Each number = mantissa (1 . d₁d₂)₂  ×  2 e  — pick a row, pick a column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1463040" y="1783080"/>
            <a:ext cx="1920240" cy="621792"/>
          </a:xfrm>
          <a:prstGeom prst="roundRect">
            <a:avLst>
              <a:gd name="adj" fmla="val 8824"/>
            </a:avLst>
          </a:prstGeom>
          <a:solidFill>
            <a:srgbClr val="14213D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1463040" y="1783080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mantissa</a:t>
            </a:r>
            <a:endParaRPr lang="en-US" sz="1300" dirty="0"/>
          </a:p>
          <a:p>
            <a:pPr marL="0" indent="0" algn="ctr">
              <a:buNone/>
            </a:pPr>
            <a:r>
              <a:rPr lang="en-US" sz="130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(1.d₁d₂)₂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3383280" y="1783080"/>
            <a:ext cx="2057400" cy="621792"/>
          </a:xfrm>
          <a:prstGeom prst="roundRect">
            <a:avLst>
              <a:gd name="adj" fmla="val 8824"/>
            </a:avLst>
          </a:prstGeom>
          <a:solidFill>
            <a:srgbClr val="2C6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 txBox="1"/>
          <p:nvPr/>
        </p:nvSpPr>
        <p:spPr>
          <a:xfrm>
            <a:off x="3383280" y="1783080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-1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(× 2⁻1 = ×0.5)</a:t>
            </a:r>
            <a:endParaRPr lang="en-US" sz="1250" dirty="0"/>
          </a:p>
        </p:txBody>
      </p:sp>
      <p:sp>
        <p:nvSpPr>
          <p:cNvPr id="10" name="Shape 8"/>
          <p:cNvSpPr/>
          <p:nvPr/>
        </p:nvSpPr>
        <p:spPr>
          <a:xfrm>
            <a:off x="5532120" y="1783080"/>
            <a:ext cx="2057400" cy="621792"/>
          </a:xfrm>
          <a:prstGeom prst="roundRect">
            <a:avLst>
              <a:gd name="adj" fmla="val 8824"/>
            </a:avLst>
          </a:prstGeom>
          <a:solidFill>
            <a:srgbClr val="B8874B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5532120" y="1783080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0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(× 2⁰ = ×1)</a:t>
            </a:r>
            <a:endParaRPr lang="en-US" sz="1250" dirty="0"/>
          </a:p>
        </p:txBody>
      </p:sp>
      <p:sp>
        <p:nvSpPr>
          <p:cNvPr id="12" name="Shape 10"/>
          <p:cNvSpPr/>
          <p:nvPr/>
        </p:nvSpPr>
        <p:spPr>
          <a:xfrm>
            <a:off x="7680960" y="1783080"/>
            <a:ext cx="2057400" cy="621792"/>
          </a:xfrm>
          <a:prstGeom prst="roundRect">
            <a:avLst>
              <a:gd name="adj" fmla="val 8824"/>
            </a:avLst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7680960" y="1783080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1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(× 2¹ = ×2)</a:t>
            </a:r>
            <a:endParaRPr lang="en-US" sz="1250" dirty="0"/>
          </a:p>
        </p:txBody>
      </p:sp>
      <p:sp>
        <p:nvSpPr>
          <p:cNvPr id="14" name="Shape 12"/>
          <p:cNvSpPr/>
          <p:nvPr/>
        </p:nvSpPr>
        <p:spPr>
          <a:xfrm>
            <a:off x="9829800" y="1783080"/>
            <a:ext cx="2057400" cy="621792"/>
          </a:xfrm>
          <a:prstGeom prst="roundRect">
            <a:avLst>
              <a:gd name="adj" fmla="val 8824"/>
            </a:avLst>
          </a:prstGeom>
          <a:solidFill>
            <a:srgbClr val="6B4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9829800" y="1783080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e = 2</a:t>
            </a:r>
            <a:endParaRPr lang="en-US" sz="1250" dirty="0"/>
          </a:p>
          <a:p>
            <a:pPr marL="0" indent="0" algn="ctr">
              <a:buNone/>
            </a:pPr>
            <a:r>
              <a:rPr lang="en-US" sz="1250" b="1" dirty="0">
                <a:solidFill>
                  <a:srgbClr val="FFFFFF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(× 2² = ×4)</a:t>
            </a:r>
            <a:endParaRPr lang="en-US" sz="1250" dirty="0"/>
          </a:p>
        </p:txBody>
      </p:sp>
      <p:sp>
        <p:nvSpPr>
          <p:cNvPr id="16" name="Shape 14"/>
          <p:cNvSpPr/>
          <p:nvPr/>
        </p:nvSpPr>
        <p:spPr>
          <a:xfrm>
            <a:off x="1463040" y="2404872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1463040" y="2404872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 = 1</a:t>
            </a:r>
            <a:endParaRPr lang="en-US" sz="1350" dirty="0"/>
          </a:p>
        </p:txBody>
      </p:sp>
      <p:sp>
        <p:nvSpPr>
          <p:cNvPr id="18" name="Shape 16"/>
          <p:cNvSpPr/>
          <p:nvPr/>
        </p:nvSpPr>
        <p:spPr>
          <a:xfrm>
            <a:off x="3383280" y="2404872"/>
            <a:ext cx="2057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3383280" y="240487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0.5</a:t>
            </a:r>
            <a:endParaRPr lang="en-US" sz="1500" dirty="0"/>
          </a:p>
        </p:txBody>
      </p:sp>
      <p:sp>
        <p:nvSpPr>
          <p:cNvPr id="20" name="Shape 18"/>
          <p:cNvSpPr/>
          <p:nvPr/>
        </p:nvSpPr>
        <p:spPr>
          <a:xfrm>
            <a:off x="5532120" y="2404872"/>
            <a:ext cx="2057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 txBox="1"/>
          <p:nvPr/>
        </p:nvSpPr>
        <p:spPr>
          <a:xfrm>
            <a:off x="5532120" y="240487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8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</a:t>
            </a:r>
            <a:endParaRPr lang="en-US" sz="1500" dirty="0"/>
          </a:p>
        </p:txBody>
      </p:sp>
      <p:sp>
        <p:nvSpPr>
          <p:cNvPr id="22" name="Shape 20"/>
          <p:cNvSpPr/>
          <p:nvPr/>
        </p:nvSpPr>
        <p:spPr>
          <a:xfrm>
            <a:off x="7680960" y="2404872"/>
            <a:ext cx="2057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7680960" y="240487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6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500" dirty="0"/>
          </a:p>
        </p:txBody>
      </p:sp>
      <p:sp>
        <p:nvSpPr>
          <p:cNvPr id="24" name="Shape 22"/>
          <p:cNvSpPr/>
          <p:nvPr/>
        </p:nvSpPr>
        <p:spPr>
          <a:xfrm>
            <a:off x="9829800" y="2404872"/>
            <a:ext cx="2057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9829800" y="2404872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</a:t>
            </a:r>
            <a:endParaRPr lang="en-US" sz="1500" dirty="0"/>
          </a:p>
        </p:txBody>
      </p:sp>
      <p:sp>
        <p:nvSpPr>
          <p:cNvPr id="26" name="Shape 24"/>
          <p:cNvSpPr/>
          <p:nvPr/>
        </p:nvSpPr>
        <p:spPr>
          <a:xfrm>
            <a:off x="1463040" y="3026664"/>
            <a:ext cx="1920240" cy="621792"/>
          </a:xfrm>
          <a:prstGeom prst="rect">
            <a:avLst/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 txBox="1"/>
          <p:nvPr/>
        </p:nvSpPr>
        <p:spPr>
          <a:xfrm>
            <a:off x="1463040" y="3026664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1.01 = 1.25</a:t>
            </a:r>
            <a:endParaRPr lang="en-US" sz="1350" dirty="0"/>
          </a:p>
        </p:txBody>
      </p:sp>
      <p:sp>
        <p:nvSpPr>
          <p:cNvPr id="28" name="Shape 26"/>
          <p:cNvSpPr/>
          <p:nvPr/>
        </p:nvSpPr>
        <p:spPr>
          <a:xfrm>
            <a:off x="3383280" y="3026664"/>
            <a:ext cx="2057400" cy="621792"/>
          </a:xfrm>
          <a:prstGeom prst="rect">
            <a:avLst/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7"/>
          <p:cNvSpPr txBox="1"/>
          <p:nvPr/>
        </p:nvSpPr>
        <p:spPr>
          <a:xfrm>
            <a:off x="3383280" y="3026664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0.625</a:t>
            </a:r>
            <a:endParaRPr lang="en-US" sz="1500" dirty="0"/>
          </a:p>
        </p:txBody>
      </p:sp>
      <p:sp>
        <p:nvSpPr>
          <p:cNvPr id="30" name="Shape 28"/>
          <p:cNvSpPr/>
          <p:nvPr/>
        </p:nvSpPr>
        <p:spPr>
          <a:xfrm>
            <a:off x="5532120" y="3026664"/>
            <a:ext cx="2057400" cy="621792"/>
          </a:xfrm>
          <a:prstGeom prst="rect">
            <a:avLst/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5532120" y="3026664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8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1.25</a:t>
            </a:r>
            <a:endParaRPr lang="en-US" sz="1500" dirty="0"/>
          </a:p>
        </p:txBody>
      </p:sp>
      <p:sp>
        <p:nvSpPr>
          <p:cNvPr id="32" name="Shape 30"/>
          <p:cNvSpPr/>
          <p:nvPr/>
        </p:nvSpPr>
        <p:spPr>
          <a:xfrm>
            <a:off x="7680960" y="3026664"/>
            <a:ext cx="2057400" cy="621792"/>
          </a:xfrm>
          <a:prstGeom prst="rect">
            <a:avLst/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 txBox="1"/>
          <p:nvPr/>
        </p:nvSpPr>
        <p:spPr>
          <a:xfrm>
            <a:off x="7680960" y="3026664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6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2.5</a:t>
            </a:r>
            <a:endParaRPr lang="en-US" sz="1500" dirty="0"/>
          </a:p>
        </p:txBody>
      </p:sp>
      <p:sp>
        <p:nvSpPr>
          <p:cNvPr id="34" name="Shape 32"/>
          <p:cNvSpPr/>
          <p:nvPr/>
        </p:nvSpPr>
        <p:spPr>
          <a:xfrm>
            <a:off x="9829800" y="3026664"/>
            <a:ext cx="2057400" cy="621792"/>
          </a:xfrm>
          <a:prstGeom prst="rect">
            <a:avLst/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Text 33"/>
          <p:cNvSpPr txBox="1"/>
          <p:nvPr/>
        </p:nvSpPr>
        <p:spPr>
          <a:xfrm>
            <a:off x="9829800" y="3026664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</a:t>
            </a:r>
            <a:endParaRPr lang="en-US" sz="1500" dirty="0"/>
          </a:p>
        </p:txBody>
      </p:sp>
      <p:sp>
        <p:nvSpPr>
          <p:cNvPr id="36" name="Shape 34"/>
          <p:cNvSpPr/>
          <p:nvPr/>
        </p:nvSpPr>
        <p:spPr>
          <a:xfrm>
            <a:off x="1463040" y="3648456"/>
            <a:ext cx="192024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 txBox="1"/>
          <p:nvPr/>
        </p:nvSpPr>
        <p:spPr>
          <a:xfrm>
            <a:off x="1463040" y="3648456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1.10 = 1.5</a:t>
            </a:r>
            <a:endParaRPr lang="en-US" sz="1350" dirty="0"/>
          </a:p>
        </p:txBody>
      </p:sp>
      <p:sp>
        <p:nvSpPr>
          <p:cNvPr id="38" name="Shape 36"/>
          <p:cNvSpPr/>
          <p:nvPr/>
        </p:nvSpPr>
        <p:spPr>
          <a:xfrm>
            <a:off x="3383280" y="3648456"/>
            <a:ext cx="2057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 txBox="1"/>
          <p:nvPr/>
        </p:nvSpPr>
        <p:spPr>
          <a:xfrm>
            <a:off x="3383280" y="364845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0.75</a:t>
            </a:r>
            <a:endParaRPr lang="en-US" sz="1500" dirty="0"/>
          </a:p>
        </p:txBody>
      </p:sp>
      <p:sp>
        <p:nvSpPr>
          <p:cNvPr id="40" name="Shape 38"/>
          <p:cNvSpPr/>
          <p:nvPr/>
        </p:nvSpPr>
        <p:spPr>
          <a:xfrm>
            <a:off x="5532120" y="3648456"/>
            <a:ext cx="2057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Text 39"/>
          <p:cNvSpPr txBox="1"/>
          <p:nvPr/>
        </p:nvSpPr>
        <p:spPr>
          <a:xfrm>
            <a:off x="5532120" y="364845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8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1500" dirty="0"/>
          </a:p>
        </p:txBody>
      </p:sp>
      <p:sp>
        <p:nvSpPr>
          <p:cNvPr id="42" name="Shape 40"/>
          <p:cNvSpPr/>
          <p:nvPr/>
        </p:nvSpPr>
        <p:spPr>
          <a:xfrm>
            <a:off x="7680960" y="3648456"/>
            <a:ext cx="2057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 txBox="1"/>
          <p:nvPr/>
        </p:nvSpPr>
        <p:spPr>
          <a:xfrm>
            <a:off x="7680960" y="364845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6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500" dirty="0"/>
          </a:p>
        </p:txBody>
      </p:sp>
      <p:sp>
        <p:nvSpPr>
          <p:cNvPr id="44" name="Shape 42"/>
          <p:cNvSpPr/>
          <p:nvPr/>
        </p:nvSpPr>
        <p:spPr>
          <a:xfrm>
            <a:off x="9829800" y="3648456"/>
            <a:ext cx="2057400" cy="621792"/>
          </a:xfrm>
          <a:prstGeom prst="rect">
            <a:avLst/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 txBox="1"/>
          <p:nvPr/>
        </p:nvSpPr>
        <p:spPr>
          <a:xfrm>
            <a:off x="9829800" y="3648456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</a:t>
            </a:r>
            <a:endParaRPr lang="en-US" sz="1500" dirty="0"/>
          </a:p>
        </p:txBody>
      </p:sp>
      <p:sp>
        <p:nvSpPr>
          <p:cNvPr id="46" name="Shape 44"/>
          <p:cNvSpPr/>
          <p:nvPr/>
        </p:nvSpPr>
        <p:spPr>
          <a:xfrm>
            <a:off x="1463040" y="4270248"/>
            <a:ext cx="1920240" cy="621792"/>
          </a:xfrm>
          <a:prstGeom prst="rect">
            <a:avLst/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Text 45"/>
          <p:cNvSpPr txBox="1"/>
          <p:nvPr/>
        </p:nvSpPr>
        <p:spPr>
          <a:xfrm>
            <a:off x="1463040" y="4270248"/>
            <a:ext cx="192024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35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 = 1.75</a:t>
            </a:r>
            <a:endParaRPr lang="en-US" sz="1350" dirty="0"/>
          </a:p>
        </p:txBody>
      </p:sp>
      <p:sp>
        <p:nvSpPr>
          <p:cNvPr id="48" name="Shape 46"/>
          <p:cNvSpPr/>
          <p:nvPr/>
        </p:nvSpPr>
        <p:spPr>
          <a:xfrm>
            <a:off x="3383280" y="4270248"/>
            <a:ext cx="2057400" cy="621792"/>
          </a:xfrm>
          <a:prstGeom prst="rect">
            <a:avLst/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9" name="Text 47"/>
          <p:cNvSpPr txBox="1"/>
          <p:nvPr/>
        </p:nvSpPr>
        <p:spPr>
          <a:xfrm>
            <a:off x="3383280" y="4270248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2C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0.875</a:t>
            </a:r>
            <a:endParaRPr lang="en-US" sz="1500" dirty="0"/>
          </a:p>
        </p:txBody>
      </p:sp>
      <p:sp>
        <p:nvSpPr>
          <p:cNvPr id="50" name="Shape 48"/>
          <p:cNvSpPr/>
          <p:nvPr/>
        </p:nvSpPr>
        <p:spPr>
          <a:xfrm>
            <a:off x="5532120" y="4270248"/>
            <a:ext cx="2057400" cy="621792"/>
          </a:xfrm>
          <a:prstGeom prst="rect">
            <a:avLst/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 txBox="1"/>
          <p:nvPr/>
        </p:nvSpPr>
        <p:spPr>
          <a:xfrm>
            <a:off x="5532120" y="4270248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B88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1.75</a:t>
            </a:r>
            <a:endParaRPr lang="en-US" sz="1500" dirty="0"/>
          </a:p>
        </p:txBody>
      </p:sp>
      <p:sp>
        <p:nvSpPr>
          <p:cNvPr id="52" name="Shape 50"/>
          <p:cNvSpPr/>
          <p:nvPr/>
        </p:nvSpPr>
        <p:spPr>
          <a:xfrm>
            <a:off x="7680960" y="4270248"/>
            <a:ext cx="2057400" cy="621792"/>
          </a:xfrm>
          <a:prstGeom prst="rect">
            <a:avLst/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Text 51"/>
          <p:cNvSpPr txBox="1"/>
          <p:nvPr/>
        </p:nvSpPr>
        <p:spPr>
          <a:xfrm>
            <a:off x="7680960" y="4270248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A6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3.5</a:t>
            </a:r>
            <a:endParaRPr lang="en-US" sz="1500" dirty="0"/>
          </a:p>
        </p:txBody>
      </p:sp>
      <p:sp>
        <p:nvSpPr>
          <p:cNvPr id="54" name="Shape 52"/>
          <p:cNvSpPr/>
          <p:nvPr/>
        </p:nvSpPr>
        <p:spPr>
          <a:xfrm>
            <a:off x="9829800" y="4270248"/>
            <a:ext cx="2057400" cy="621792"/>
          </a:xfrm>
          <a:prstGeom prst="rect">
            <a:avLst/>
          </a:prstGeom>
          <a:solidFill>
            <a:srgbClr val="F6F8FC"/>
          </a:solidFill>
          <a:ln w="12700">
            <a:solidFill>
              <a:srgbClr val="E3E7E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5" name="Text 53"/>
          <p:cNvSpPr txBox="1"/>
          <p:nvPr/>
        </p:nvSpPr>
        <p:spPr>
          <a:xfrm>
            <a:off x="9829800" y="4270248"/>
            <a:ext cx="2057400" cy="6217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500" b="1" dirty="0">
                <a:solidFill>
                  <a:srgbClr val="6B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</a:t>
            </a:r>
            <a:endParaRPr lang="en-US" sz="1500" dirty="0"/>
          </a:p>
        </p:txBody>
      </p:sp>
      <p:sp>
        <p:nvSpPr>
          <p:cNvPr id="56" name="Shape 54"/>
          <p:cNvSpPr/>
          <p:nvPr/>
        </p:nvSpPr>
        <p:spPr>
          <a:xfrm>
            <a:off x="838048" y="5166360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01600" dist="25400" dir="5400000" algn="bl" rotWithShape="0">
              <a:srgbClr val="9AA6B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 txBox="1"/>
          <p:nvPr/>
        </p:nvSpPr>
        <p:spPr>
          <a:xfrm>
            <a:off x="1066648" y="525780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Smallest positive number:  </a:t>
            </a:r>
            <a:r>
              <a:rPr lang="en-US" sz="1300" b="1" dirty="0">
                <a:solidFill>
                  <a:srgbClr val="2C6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1.00₂ × 2⁻¹ = 0.5</a:t>
            </a:r>
            <a:endParaRPr lang="en-US" sz="1300" dirty="0"/>
          </a:p>
        </p:txBody>
      </p:sp>
      <p:sp>
        <p:nvSpPr>
          <p:cNvPr id="58" name="Text 56"/>
          <p:cNvSpPr txBox="1"/>
          <p:nvPr/>
        </p:nvSpPr>
        <p:spPr>
          <a:xfrm>
            <a:off x="1066648" y="562356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underflow boundary — nothing smaller than this is representable (except zero itself).</a:t>
            </a:r>
            <a:endParaRPr lang="en-US" sz="1050" dirty="0"/>
          </a:p>
        </p:txBody>
      </p:sp>
      <p:sp>
        <p:nvSpPr>
          <p:cNvPr id="59" name="Shape 57"/>
          <p:cNvSpPr/>
          <p:nvPr/>
        </p:nvSpPr>
        <p:spPr>
          <a:xfrm>
            <a:off x="6278728" y="5166360"/>
            <a:ext cx="5074920" cy="91440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01600" dist="25400" dir="5400000" algn="bl" rotWithShape="0">
              <a:srgbClr val="9AA6B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 txBox="1"/>
          <p:nvPr/>
        </p:nvSpPr>
        <p:spPr>
          <a:xfrm>
            <a:off x="6507328" y="525780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3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Largest number:  </a:t>
            </a:r>
            <a:r>
              <a:rPr lang="en-US" sz="1300" b="1" dirty="0">
                <a:solidFill>
                  <a:srgbClr val="6B4E8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1.11₂ × 2² = 7</a:t>
            </a:r>
            <a:endParaRPr lang="en-US" sz="1300" dirty="0"/>
          </a:p>
        </p:txBody>
      </p:sp>
      <p:sp>
        <p:nvSpPr>
          <p:cNvPr id="61" name="Text 59"/>
          <p:cNvSpPr txBox="1"/>
          <p:nvPr/>
        </p:nvSpPr>
        <p:spPr>
          <a:xfrm>
            <a:off x="6507328" y="5623560"/>
            <a:ext cx="4617720" cy="38404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i="1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The overflow boundary — any true result larger than this cannot be represented at all.</a:t>
            </a:r>
            <a:endParaRPr lang="en-US" sz="1050" dirty="0"/>
          </a:p>
        </p:txBody>
      </p:sp>
      <p:sp>
        <p:nvSpPr>
          <p:cNvPr id="62" name="Text 60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 txBox="1"/>
          <p:nvPr/>
        </p:nvSpPr>
        <p:spPr>
          <a:xfrm>
            <a:off x="457200" y="256032"/>
            <a:ext cx="82296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l">
              <a:buNone/>
            </a:pPr>
            <a:r>
              <a:rPr lang="en-US" sz="1300" kern="0" spc="12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FLOATING-POINT REPRESENTATION</a:t>
            </a:r>
            <a:endParaRPr lang="en-US" sz="1300" dirty="0"/>
          </a:p>
        </p:txBody>
      </p:sp>
      <p:sp>
        <p:nvSpPr>
          <p:cNvPr id="3" name="Text 1"/>
          <p:cNvSpPr txBox="1"/>
          <p:nvPr/>
        </p:nvSpPr>
        <p:spPr>
          <a:xfrm>
            <a:off x="8534095" y="256032"/>
            <a:ext cx="3200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3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From Real Numbers to fl(x)</a:t>
            </a:r>
            <a:endParaRPr lang="en-US" sz="1300" dirty="0"/>
          </a:p>
        </p:txBody>
      </p:sp>
      <p:sp>
        <p:nvSpPr>
          <p:cNvPr id="4" name="Text 2"/>
          <p:cNvSpPr txBox="1"/>
          <p:nvPr/>
        </p:nvSpPr>
        <p:spPr>
          <a:xfrm>
            <a:off x="457200" y="640080"/>
            <a:ext cx="11277295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3000" b="1" dirty="0">
                <a:solidFill>
                  <a:srgbClr val="14213D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Approximating Real Numbers: Where Does the Error Come From?</a:t>
            </a:r>
            <a:endParaRPr lang="en-US" sz="3000" dirty="0"/>
          </a:p>
        </p:txBody>
      </p:sp>
      <p:sp>
        <p:nvSpPr>
          <p:cNvPr id="5" name="Text 3"/>
          <p:cNvSpPr txBox="1"/>
          <p:nvPr/>
        </p:nvSpPr>
        <p:spPr>
          <a:xfrm>
            <a:off x="457200" y="1298448"/>
            <a:ext cx="112772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l">
              <a:buNone/>
            </a:pPr>
            <a:r>
              <a:rPr lang="en-US" sz="1500" i="1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Any real number x is rounded to its nearest representable neighbor, fl(x) — and that rounding introduces error</a:t>
            </a:r>
            <a:endParaRPr lang="en-US" sz="1500" dirty="0"/>
          </a:p>
        </p:txBody>
      </p:sp>
      <p:sp>
        <p:nvSpPr>
          <p:cNvPr id="6" name="Shape 4"/>
          <p:cNvSpPr/>
          <p:nvPr/>
        </p:nvSpPr>
        <p:spPr>
          <a:xfrm>
            <a:off x="457200" y="1783080"/>
            <a:ext cx="11277295" cy="960120"/>
          </a:xfrm>
          <a:prstGeom prst="roundRect">
            <a:avLst>
              <a:gd name="adj" fmla="val 9524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01600" dist="25400" dir="5400000" algn="bl" rotWithShape="0">
              <a:srgbClr val="9AA6B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 txBox="1"/>
          <p:nvPr/>
        </p:nvSpPr>
        <p:spPr>
          <a:xfrm>
            <a:off x="685800" y="1847088"/>
            <a:ext cx="10820095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900" b="1" dirty="0">
                <a:solidFill>
                  <a:srgbClr val="14213D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fl(x) = x (1 + δ),     </a:t>
            </a:r>
            <a:r>
              <a:rPr lang="en-US" sz="1900" b="1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|δ| ≤ u = ε</a:t>
            </a:r>
            <a:r>
              <a:rPr lang="en-US" sz="1900" b="1" baseline="-400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</a:t>
            </a:r>
            <a:r>
              <a:rPr lang="en-US" sz="1900" b="1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/ 2,     where  ε</a:t>
            </a:r>
            <a:r>
              <a:rPr lang="en-US" sz="1900" b="1" baseline="-4000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mach</a:t>
            </a:r>
            <a:r>
              <a:rPr lang="en-US" sz="1900" b="1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 = β¹⁻ᵖ</a:t>
            </a:r>
            <a:endParaRPr lang="en-US" sz="1900" dirty="0"/>
          </a:p>
        </p:txBody>
      </p:sp>
      <p:sp>
        <p:nvSpPr>
          <p:cNvPr id="8" name="Text 6"/>
          <p:cNvSpPr txBox="1"/>
          <p:nvPr/>
        </p:nvSpPr>
        <p:spPr>
          <a:xfrm>
            <a:off x="685800" y="2331720"/>
            <a:ext cx="10820095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400" b="1" i="1" dirty="0">
                <a:solidFill>
                  <a:srgbClr val="B8874B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 our system:   εmach = 2¹⁻³ = 2⁻² = 0.25     →     u = 0.25 / 2 = 0.125  (a 12.5% maximum relative error)</a:t>
            </a:r>
            <a:endParaRPr lang="en-US" sz="1400" dirty="0"/>
          </a:p>
        </p:txBody>
      </p:sp>
      <p:sp>
        <p:nvSpPr>
          <p:cNvPr id="9" name="Shape 7"/>
          <p:cNvSpPr/>
          <p:nvPr/>
        </p:nvSpPr>
        <p:spPr>
          <a:xfrm>
            <a:off x="2194560" y="3694176"/>
            <a:ext cx="7772400" cy="18288"/>
          </a:xfrm>
          <a:prstGeom prst="rect">
            <a:avLst/>
          </a:prstGeom>
          <a:solidFill>
            <a:srgbClr val="C7CEDC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2179930" y="3483864"/>
            <a:ext cx="29261" cy="438912"/>
          </a:xfrm>
          <a:prstGeom prst="rect">
            <a:avLst/>
          </a:prstGeom>
          <a:solidFill>
            <a:srgbClr val="6B4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 txBox="1"/>
          <p:nvPr/>
        </p:nvSpPr>
        <p:spPr>
          <a:xfrm>
            <a:off x="1874520" y="394106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4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4</a:t>
            </a:r>
            <a:endParaRPr lang="en-US" sz="1400" dirty="0"/>
          </a:p>
        </p:txBody>
      </p:sp>
      <p:sp>
        <p:nvSpPr>
          <p:cNvPr id="12" name="Shape 10"/>
          <p:cNvSpPr/>
          <p:nvPr/>
        </p:nvSpPr>
        <p:spPr>
          <a:xfrm>
            <a:off x="4770730" y="3483864"/>
            <a:ext cx="29261" cy="438912"/>
          </a:xfrm>
          <a:prstGeom prst="rect">
            <a:avLst/>
          </a:prstGeom>
          <a:solidFill>
            <a:srgbClr val="6B4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 txBox="1"/>
          <p:nvPr/>
        </p:nvSpPr>
        <p:spPr>
          <a:xfrm>
            <a:off x="4465320" y="394106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4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5</a:t>
            </a:r>
            <a:endParaRPr lang="en-US" sz="1400" dirty="0"/>
          </a:p>
        </p:txBody>
      </p:sp>
      <p:sp>
        <p:nvSpPr>
          <p:cNvPr id="14" name="Shape 12"/>
          <p:cNvSpPr/>
          <p:nvPr/>
        </p:nvSpPr>
        <p:spPr>
          <a:xfrm>
            <a:off x="7361530" y="3483864"/>
            <a:ext cx="29261" cy="438912"/>
          </a:xfrm>
          <a:prstGeom prst="rect">
            <a:avLst/>
          </a:prstGeom>
          <a:solidFill>
            <a:srgbClr val="6B4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 txBox="1"/>
          <p:nvPr/>
        </p:nvSpPr>
        <p:spPr>
          <a:xfrm>
            <a:off x="7056120" y="394106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4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6</a:t>
            </a:r>
            <a:endParaRPr lang="en-US" sz="1400" dirty="0"/>
          </a:p>
        </p:txBody>
      </p:sp>
      <p:sp>
        <p:nvSpPr>
          <p:cNvPr id="16" name="Shape 14"/>
          <p:cNvSpPr/>
          <p:nvPr/>
        </p:nvSpPr>
        <p:spPr>
          <a:xfrm>
            <a:off x="9952330" y="3483864"/>
            <a:ext cx="29261" cy="438912"/>
          </a:xfrm>
          <a:prstGeom prst="rect">
            <a:avLst/>
          </a:prstGeom>
          <a:solidFill>
            <a:srgbClr val="6B4E8E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17" name="Text 15"/>
          <p:cNvSpPr txBox="1"/>
          <p:nvPr/>
        </p:nvSpPr>
        <p:spPr>
          <a:xfrm>
            <a:off x="9646920" y="3941064"/>
            <a:ext cx="64008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6B4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7</a:t>
            </a:r>
            <a:endParaRPr lang="en-US" sz="1400" dirty="0"/>
          </a:p>
        </p:txBody>
      </p:sp>
      <p:sp>
        <p:nvSpPr>
          <p:cNvPr id="18" name="Shape 16"/>
          <p:cNvSpPr/>
          <p:nvPr/>
        </p:nvSpPr>
        <p:spPr>
          <a:xfrm>
            <a:off x="5498592" y="3639312"/>
            <a:ext cx="128016" cy="128016"/>
          </a:xfrm>
          <a:prstGeom prst="ellipse">
            <a:avLst/>
          </a:prstGeom>
          <a:solidFill>
            <a:srgbClr val="A63A29"/>
          </a:solidFill>
          <a:ln w="19050">
            <a:solidFill>
              <a:srgbClr val="FFFFFF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 txBox="1"/>
          <p:nvPr/>
        </p:nvSpPr>
        <p:spPr>
          <a:xfrm>
            <a:off x="4739640" y="2926080"/>
            <a:ext cx="1645920" cy="29260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A6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x = 5.3  (a real number)</a:t>
            </a:r>
            <a:endParaRPr lang="en-US" sz="1200" dirty="0"/>
          </a:p>
        </p:txBody>
      </p:sp>
      <p:sp>
        <p:nvSpPr>
          <p:cNvPr id="20" name="Shape 18"/>
          <p:cNvSpPr/>
          <p:nvPr/>
        </p:nvSpPr>
        <p:spPr>
          <a:xfrm>
            <a:off x="4785360" y="3392424"/>
            <a:ext cx="777240" cy="14630"/>
          </a:xfrm>
          <a:prstGeom prst="rect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85360" y="3337560"/>
            <a:ext cx="14630" cy="118872"/>
          </a:xfrm>
          <a:prstGeom prst="rect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2" name="Shape 20"/>
          <p:cNvSpPr/>
          <p:nvPr/>
        </p:nvSpPr>
        <p:spPr>
          <a:xfrm>
            <a:off x="5547970" y="3337560"/>
            <a:ext cx="14630" cy="118872"/>
          </a:xfrm>
          <a:prstGeom prst="rect">
            <a:avLst/>
          </a:prstGeom>
          <a:solidFill>
            <a:srgbClr val="A63A29"/>
          </a:solidFill>
          <a:ln/>
        </p:spPr>
        <p:txBody>
          <a:bodyPr/>
          <a:lstStyle/>
          <a:p>
            <a:endParaRPr lang="en-US"/>
          </a:p>
        </p:txBody>
      </p:sp>
      <p:sp>
        <p:nvSpPr>
          <p:cNvPr id="23" name="Text 21"/>
          <p:cNvSpPr txBox="1"/>
          <p:nvPr/>
        </p:nvSpPr>
        <p:spPr>
          <a:xfrm>
            <a:off x="4078158" y="4283964"/>
            <a:ext cx="440114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50" i="1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error = |5.3 − 5| = 0.3   →   relative error = 0.3 / 5.3 ≈ 5.7%  (≤ 12.5% ✓)</a:t>
            </a:r>
            <a:endParaRPr lang="en-US" sz="1150" dirty="0"/>
          </a:p>
        </p:txBody>
      </p:sp>
      <p:sp>
        <p:nvSpPr>
          <p:cNvPr id="24" name="Shape 22"/>
          <p:cNvSpPr/>
          <p:nvPr/>
        </p:nvSpPr>
        <p:spPr>
          <a:xfrm>
            <a:off x="838048" y="4800600"/>
            <a:ext cx="5074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01600" dist="25400" dir="5400000" algn="bl" rotWithShape="0">
              <a:srgbClr val="9AA6B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 txBox="1"/>
          <p:nvPr/>
        </p:nvSpPr>
        <p:spPr>
          <a:xfrm>
            <a:off x="1066648" y="49103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B8874B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Machine Epsilon (εmach)</a:t>
            </a:r>
            <a:endParaRPr lang="en-US" sz="1500" dirty="0"/>
          </a:p>
        </p:txBody>
      </p:sp>
      <p:sp>
        <p:nvSpPr>
          <p:cNvPr id="26" name="Text 24"/>
          <p:cNvSpPr txBox="1"/>
          <p:nvPr/>
        </p:nvSpPr>
        <p:spPr>
          <a:xfrm>
            <a:off x="1066648" y="523951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 RELATIVE measure: β¹⁻ᵖ = 0.25. Bounds the relative rounding error — and that bound is the same at every exponent bracket, whether the numbers are tiny or huge.</a:t>
            </a:r>
            <a:endParaRPr lang="en-US" sz="1150" dirty="0"/>
          </a:p>
        </p:txBody>
      </p:sp>
      <p:sp>
        <p:nvSpPr>
          <p:cNvPr id="27" name="Shape 25"/>
          <p:cNvSpPr/>
          <p:nvPr/>
        </p:nvSpPr>
        <p:spPr>
          <a:xfrm>
            <a:off x="6278728" y="4800600"/>
            <a:ext cx="5074920" cy="1188720"/>
          </a:xfrm>
          <a:prstGeom prst="roundRect">
            <a:avLst>
              <a:gd name="adj" fmla="val 7692"/>
            </a:avLst>
          </a:prstGeom>
          <a:solidFill>
            <a:srgbClr val="FFFFFF"/>
          </a:solidFill>
          <a:ln w="12700">
            <a:solidFill>
              <a:srgbClr val="E3E7EF"/>
            </a:solidFill>
            <a:prstDash val="solid"/>
          </a:ln>
          <a:effectLst>
            <a:outerShdw blurRad="101600" dist="25400" dir="5400000" algn="bl" rotWithShape="0">
              <a:srgbClr val="9AA6BC">
                <a:alpha val="25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 txBox="1"/>
          <p:nvPr/>
        </p:nvSpPr>
        <p:spPr>
          <a:xfrm>
            <a:off x="6507328" y="4910328"/>
            <a:ext cx="46177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500" b="1" dirty="0">
                <a:solidFill>
                  <a:srgbClr val="2C6E8E"/>
                </a:solidFill>
                <a:latin typeface="Cambria" pitchFamily="34" charset="0"/>
                <a:ea typeface="Cambria" pitchFamily="34" charset="-122"/>
                <a:cs typeface="Cambria" pitchFamily="34" charset="-120"/>
              </a:rPr>
              <a:t>Smallest Number (UFL)</a:t>
            </a:r>
            <a:endParaRPr lang="en-US" sz="1500" dirty="0"/>
          </a:p>
        </p:txBody>
      </p:sp>
      <p:sp>
        <p:nvSpPr>
          <p:cNvPr id="29" name="Text 27"/>
          <p:cNvSpPr txBox="1"/>
          <p:nvPr/>
        </p:nvSpPr>
        <p:spPr>
          <a:xfrm>
            <a:off x="6507328" y="5239512"/>
            <a:ext cx="4617720" cy="6858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lnSpc>
                <a:spcPct val="112000"/>
              </a:lnSpc>
              <a:buNone/>
            </a:pPr>
            <a:r>
              <a:rPr lang="en-US" sz="1150" dirty="0">
                <a:solidFill>
                  <a:srgbClr val="3B4A66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An ABSOLUTE floor: βᴸ = 0.5. Marks where representable numbers run out entirely — it depends on L, not on precision p, and has nothing to do with rounding accuracy.</a:t>
            </a:r>
            <a:endParaRPr lang="en-US" sz="1150" dirty="0"/>
          </a:p>
        </p:txBody>
      </p:sp>
      <p:sp>
        <p:nvSpPr>
          <p:cNvPr id="30" name="Shape 28"/>
          <p:cNvSpPr/>
          <p:nvPr/>
        </p:nvSpPr>
        <p:spPr>
          <a:xfrm>
            <a:off x="457200" y="6144768"/>
            <a:ext cx="11277295" cy="502920"/>
          </a:xfrm>
          <a:prstGeom prst="roundRect">
            <a:avLst>
              <a:gd name="adj" fmla="val 14545"/>
            </a:avLst>
          </a:prstGeom>
          <a:solidFill>
            <a:srgbClr val="A63A29">
              <a:alpha val="16000"/>
            </a:srgbClr>
          </a:solidFill>
          <a:ln w="12700">
            <a:solidFill>
              <a:srgbClr val="A63A2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 txBox="1"/>
          <p:nvPr/>
        </p:nvSpPr>
        <p:spPr>
          <a:xfrm>
            <a:off x="685800" y="6144768"/>
            <a:ext cx="10820095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50" b="1" i="1" dirty="0">
                <a:solidFill>
                  <a:srgbClr val="A63A2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This relative-error bound only holds for x IN RANGE: 0.5 ≤ |x| ≤ 7. Smaller → underflow (rounds toward 0, bound fails). Larger → overflow (not representable — no fl(x) exists at all).</a:t>
            </a:r>
            <a:endParaRPr lang="en-US" sz="1150" dirty="0"/>
          </a:p>
        </p:txBody>
      </p:sp>
      <p:sp>
        <p:nvSpPr>
          <p:cNvPr id="32" name="Text 30"/>
          <p:cNvSpPr txBox="1"/>
          <p:nvPr/>
        </p:nvSpPr>
        <p:spPr>
          <a:xfrm>
            <a:off x="11368735" y="6473952"/>
            <a:ext cx="457200" cy="2743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r">
              <a:buNone/>
            </a:pPr>
            <a:r>
              <a:rPr lang="en-US" sz="1200" dirty="0">
                <a:solidFill>
                  <a:srgbClr val="76839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</a:t>
            </a:r>
            <a:endParaRPr lang="en-US" sz="12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Metadata/LabelInfo.xml><?xml version="1.0" encoding="utf-8"?>
<clbl:labelList xmlns:clbl="http://schemas.microsoft.com/office/2020/mipLabelMetadata">
  <clbl:label id="{7893ce20-a697-4fd6-a4da-14011f6a471d}" enabled="1" method="Standard" siteId="{a8eec281-aaa3-4dae-ac9b-9a398b9215e7}" contentBits="0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15623</TotalTime>
  <Words>663</Words>
  <Application>Microsoft Macintosh PowerPoint</Application>
  <PresentationFormat>Widescreen</PresentationFormat>
  <Paragraphs>88</Paragraphs>
  <Slides>3</Slides>
  <Notes>3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7" baseType="lpstr">
      <vt:lpstr>Arial</vt:lpstr>
      <vt:lpstr>Calibri</vt:lpstr>
      <vt:lpstr>Cambria</vt:lpstr>
      <vt:lpstr>Office Theme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PptxGenJS Presentation</dc:title>
  <dc:subject>PptxGenJS Presentation</dc:subject>
  <dc:creator>PptxGenJS</dc:creator>
  <cp:lastModifiedBy>Santillana Guzman, Mauricio</cp:lastModifiedBy>
  <cp:revision>2</cp:revision>
  <dcterms:created xsi:type="dcterms:W3CDTF">2026-09-11T16:33:02Z</dcterms:created>
  <dcterms:modified xsi:type="dcterms:W3CDTF">2026-09-22T12:57:36Z</dcterms:modified>
</cp:coreProperties>
</file>