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8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9" r:id="rId31"/>
    <p:sldId id="285" r:id="rId32"/>
    <p:sldId id="286" r:id="rId33"/>
    <p:sldId id="287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87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4D-8A4D-B54E-5DEAE1BCF3D7}"/>
              </c:ext>
            </c:extLst>
          </c:dPt>
          <c:dPt>
            <c:idx val="1"/>
            <c:bubble3D val="0"/>
            <c:spPr>
              <a:solidFill>
                <a:srgbClr val="A63A2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4D-8A4D-B54E-5DEAE1BCF3D7}"/>
              </c:ext>
            </c:extLst>
          </c:dPt>
          <c:dPt>
            <c:idx val="2"/>
            <c:bubble3D val="0"/>
            <c:spPr>
              <a:solidFill>
                <a:srgbClr val="2C6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4D-8A4D-B54E-5DEAE1BCF3D7}"/>
              </c:ext>
            </c:extLst>
          </c:dPt>
          <c:dPt>
            <c:idx val="3"/>
            <c:bubble3D val="0"/>
            <c:spPr>
              <a:solidFill>
                <a:srgbClr val="7F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74D-8A4D-B54E-5DEAE1BCF3D7}"/>
              </c:ext>
            </c:extLst>
          </c:dPt>
          <c:dPt>
            <c:idx val="4"/>
            <c:bubble3D val="0"/>
            <c:spPr>
              <a:solidFill>
                <a:srgbClr val="C7CE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74D-8A4D-B54E-5DEAE1BCF3D7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74D-8A4D-B54E-5DEAE1BCF3D7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74D-8A4D-B54E-5DEAE1BCF3D7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4D-8A4D-B54E-5DEAE1BCF3D7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4D-8A4D-B54E-5DEAE1BCF3D7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74D-8A4D-B54E-5DEAE1BCF3D7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Problem Sets</c:v>
                </c:pt>
                <c:pt idx="1">
                  <c:v>Case Study Pres.</c:v>
                </c:pt>
                <c:pt idx="2">
                  <c:v>Final Report</c:v>
                </c:pt>
                <c:pt idx="3">
                  <c:v>Final Presentation</c:v>
                </c:pt>
                <c:pt idx="4">
                  <c:v>Final Code/Framework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10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74D-8A4D-B54E-5DEAE1BCF3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3B4A6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58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6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8.png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image" Target="../media/image23.png"/><Relationship Id="rId9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oundRect">
            <a:avLst>
              <a:gd name="adj" fmla="val 1673"/>
            </a:avLst>
          </a:prstGeom>
          <a:solidFill>
            <a:srgbClr val="1B2A4A"/>
          </a:solidFill>
          <a:ln w="15875">
            <a:solidFill>
              <a:srgbClr val="3E50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19659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 5211</a:t>
            </a:r>
            <a:endParaRPr lang="en-US" sz="61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i="1" dirty="0">
                <a:solidFill>
                  <a:srgbClr val="D9B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Scientific Computing</a:t>
            </a:r>
            <a:endParaRPr lang="en-US" sz="2500" dirty="0"/>
          </a:p>
          <a:p>
            <a:pPr marL="0" indent="0" algn="l">
              <a:buNone/>
            </a:pPr>
            <a:r>
              <a:rPr lang="en-US" sz="2500" i="1" dirty="0">
                <a:solidFill>
                  <a:srgbClr val="D9B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Era of AI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94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   ·   Tuesday &amp; Friday, 3:25–5:05 PM   ·   West Village?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452628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37127" y="4663440"/>
            <a:ext cx="640079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scientists and engineers still need to understand numerical methods</a:t>
            </a:r>
            <a:r>
              <a:rPr lang="en-US" sz="1600" dirty="0"/>
              <a:t> </a:t>
            </a:r>
            <a:r>
              <a:rPr lang="en-US" sz="1600" i="1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can generate code in seconds?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9893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Mauricio Santillana   |   m.santillana@northeastern.edu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926FDB-5239-2D19-DEE8-B80CDE69B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554" y="0"/>
            <a:ext cx="3762706" cy="6736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ALGORITHMS FAIL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Conversation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 Are Higher Than You Think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disasters. Real consequences. Why precision in scientific computing is a matter of life, death, and billions of dollars.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0888" y="2148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00888" y="22677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A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34+</a:t>
            </a:r>
            <a:endParaRPr lang="en-US" sz="4700" dirty="0"/>
          </a:p>
        </p:txBody>
      </p:sp>
      <p:sp>
        <p:nvSpPr>
          <p:cNvPr id="8" name="Text 6"/>
          <p:cNvSpPr txBox="1"/>
          <p:nvPr/>
        </p:nvSpPr>
        <p:spPr>
          <a:xfrm>
            <a:off x="700888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449928" y="2148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449928" y="22677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$2.3B+</a:t>
            </a:r>
            <a:endParaRPr lang="en-US" sz="4700" dirty="0"/>
          </a:p>
        </p:txBody>
      </p:sp>
      <p:sp>
        <p:nvSpPr>
          <p:cNvPr id="11" name="Text 9"/>
          <p:cNvSpPr txBox="1"/>
          <p:nvPr/>
        </p:nvSpPr>
        <p:spPr>
          <a:xfrm>
            <a:off x="4449928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Damage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198968" y="2148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98968" y="22677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Years</a:t>
            </a:r>
            <a:endParaRPr lang="en-US" sz="4700" dirty="0"/>
          </a:p>
        </p:txBody>
      </p:sp>
      <p:sp>
        <p:nvSpPr>
          <p:cNvPr id="14" name="Text 12"/>
          <p:cNvSpPr txBox="1"/>
          <p:nvPr/>
        </p:nvSpPr>
        <p:spPr>
          <a:xfrm>
            <a:off x="8198968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Progress Delayed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72288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82700" y="4325112"/>
            <a:ext cx="585216" cy="585216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/home/claude/assets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151" y="4465564"/>
            <a:ext cx="304312" cy="3043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09448" y="5029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Exploration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636880" y="536752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 destroyed and Mars missions lost to computational errors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352648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363060" y="4325112"/>
            <a:ext cx="585216" cy="585216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assets/icons/crosshai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511" y="4465564"/>
            <a:ext cx="304312" cy="3043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489808" y="5029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 Defense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3517240" y="536752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 defense systems failing when lives depend on split-second accuracy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33008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243420" y="4325112"/>
            <a:ext cx="585216" cy="585216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/home/claude/assets/icons/heartb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871" y="4465564"/>
            <a:ext cx="304312" cy="30431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370168" y="5029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Treatment</a:t>
            </a:r>
            <a:endParaRPr lang="en-US" sz="1550" dirty="0"/>
          </a:p>
        </p:txBody>
      </p:sp>
      <p:sp>
        <p:nvSpPr>
          <p:cNvPr id="29" name="Text 24"/>
          <p:cNvSpPr txBox="1"/>
          <p:nvPr/>
        </p:nvSpPr>
        <p:spPr>
          <a:xfrm>
            <a:off x="6397600" y="536752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therapy machines delivering lethal doses to patients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9113368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10123780" y="4325112"/>
            <a:ext cx="585216" cy="585216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/home/claude/assets/icons/layerGro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231" y="4465564"/>
            <a:ext cx="304312" cy="30431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250528" y="5029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Infrastructure</a:t>
            </a:r>
            <a:endParaRPr lang="en-US" sz="1550" dirty="0"/>
          </a:p>
        </p:txBody>
      </p:sp>
      <p:sp>
        <p:nvSpPr>
          <p:cNvPr id="34" name="Text 28"/>
          <p:cNvSpPr txBox="1"/>
          <p:nvPr/>
        </p:nvSpPr>
        <p:spPr>
          <a:xfrm>
            <a:off x="9277960" y="536752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Billion-dollar offshore platforms lost to modeling errors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ALGORITHMS FAIL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History Lesson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Decades of Preventable Disasters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77924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6779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1985–87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609344"/>
            <a:ext cx="9357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Therac-25 Radiation Overdoses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975104"/>
            <a:ext cx="9357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patients killed by a race condition in medical software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2592324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25923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523744"/>
            <a:ext cx="9357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Patriot Missile Failure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889504"/>
            <a:ext cx="9357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soldiers killed after a floating-point timing error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506724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5067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438144"/>
            <a:ext cx="9357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Sleipner A Platform Collapse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803904"/>
            <a:ext cx="9357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 offshore platform sinks from a finite-element analysis error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4421124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5800" y="44211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4352544"/>
            <a:ext cx="9357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Ariane 5 Explosion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4718304"/>
            <a:ext cx="9357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$370M rocket destroyed 37s after launch by an integer overflow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" y="5335524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53355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103120" y="5266944"/>
            <a:ext cx="9357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 Climate Orbiter Lost</a:t>
            </a:r>
            <a:endParaRPr lang="en-US" sz="175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5632704"/>
            <a:ext cx="9357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$327M spacecraft lost to a metric/imperial unit mismatch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· FLOATING-POINT ARITHMETIC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Dhahran, Saudi Arabia · Feb 25, 1991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EEF1F7"/>
          </a:solidFill>
          <a:ln w="15875">
            <a:solidFill>
              <a:srgbClr val="B9C3D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25396" y="2699309"/>
            <a:ext cx="566928" cy="566928"/>
          </a:xfrm>
          <a:prstGeom prst="ellipse">
            <a:avLst/>
          </a:prstGeom>
          <a:solidFill>
            <a:srgbClr val="C9D2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ons/ima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59" y="2835372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339389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31997"/>
            <a:ext cx="315468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a Patriot missile battery,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Gulf War-era air defense photo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417320"/>
            <a:ext cx="7208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Patriot Missile System Failure</a:t>
            </a:r>
            <a:endParaRPr lang="en-US" sz="28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993392"/>
            <a:ext cx="7208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deadliest single attack on U.S. forces during the Gulf War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526280" y="2487168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754880" y="2615184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DISASTER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2889504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Patriot missile battery failed to intercept an incoming Iraqi Scud missile. The Scud struck an Army barracks, killing 28 soldiers and wounding about 100 others.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26280" y="4059936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754880" y="4187952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TECHNICAL CAUSE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4462272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floating-point rounding error in a time calculation. After 100+ hours of continuous operation, the timing error reached 0.34 seconds — enough for the Scud to drift outside the tracking window.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26280" y="5632704"/>
            <a:ext cx="7208215" cy="676656"/>
          </a:xfrm>
          <a:prstGeom prst="roundRect">
            <a:avLst>
              <a:gd name="adj" fmla="val 135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54880" y="5632704"/>
            <a:ext cx="6751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 in binary never terminates; the 24-bit register truncates it. After 100 hours, the drift reached 0.34s — about 570 meters at Scud velocity.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0" name="Picture 19" descr="MIM-104 Patriot - Wikipedia">
            <a:extLst>
              <a:ext uri="{FF2B5EF4-FFF2-40B4-BE49-F238E27FC236}">
                <a16:creationId xmlns:a16="http://schemas.microsoft.com/office/drawing/2014/main" id="{D4796396-EBA4-FE1F-4B17-E201CF9A6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55105"/>
            <a:ext cx="3840480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· INTEGER OVERFLOW &amp; CODE REUSE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Guiana · June 4, 1996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25396" y="2699309"/>
            <a:ext cx="566928" cy="566928"/>
          </a:xfrm>
          <a:prstGeom prst="ellipse">
            <a:avLst/>
          </a:prstGeom>
          <a:solidFill>
            <a:srgbClr val="C9D2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ons/ima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59" y="2835372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339389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31997"/>
            <a:ext cx="315468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an Ariane 5 launch photo,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rocket exhaust/liftoff image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417320"/>
            <a:ext cx="7208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Ariane 5 Maiden Flight Explosion</a:t>
            </a:r>
            <a:endParaRPr lang="en-US" sz="28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993392"/>
            <a:ext cx="7208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most powerful rocket, self-destructed on its first flight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526280" y="2487168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754880" y="2615184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DISASTER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2889504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Ariane 5 self-destructed 37 seconds after launch. The $370M loss destroyed the satellites onboard and delayed European space missions for years.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26280" y="4059936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754880" y="4187952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TECHNICAL CAUSE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4462272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64-bit velocity value overflowed a 16-bit signed integer during a unit conversion carried over from Ariane 4's guidance software — code that was never re-tested for Ariane 5's steeper, faster trajectory.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26280" y="5632704"/>
            <a:ext cx="7208215" cy="676656"/>
          </a:xfrm>
          <a:prstGeom prst="roundRect">
            <a:avLst>
              <a:gd name="adj" fmla="val 135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54880" y="5632704"/>
            <a:ext cx="6751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16-bit signed integer only holds -32,768 to +32,767. Ariane 5's horizontal velocity exceeded that range — both guidance computers crashed simultaneously.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20" name="Picture 19" descr="Worst software bugs ever: Ariane 5 rocket explosion">
            <a:extLst>
              <a:ext uri="{FF2B5EF4-FFF2-40B4-BE49-F238E27FC236}">
                <a16:creationId xmlns:a16="http://schemas.microsoft.com/office/drawing/2014/main" id="{8C1F577C-DB8C-6AFA-C771-BF7EDCDAA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46" y="829622"/>
            <a:ext cx="3636994" cy="5479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 · UNIT CONVERSION &amp; INTERFACES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Orbit · September 23, 1999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25396" y="2699309"/>
            <a:ext cx="566928" cy="566928"/>
          </a:xfrm>
          <a:prstGeom prst="ellipse">
            <a:avLst/>
          </a:prstGeom>
          <a:solidFill>
            <a:srgbClr val="C9D2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ons/ima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59" y="2835372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339389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31997"/>
            <a:ext cx="315468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Mars from orbit,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spacecraft/NASA mission render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417320"/>
            <a:ext cx="7208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 Climate Orbiter Mission Loss</a:t>
            </a:r>
            <a:endParaRPr lang="en-US" sz="28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993392"/>
            <a:ext cx="7208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$327M NASA mission lost approaching Mars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526280" y="2487168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754880" y="2615184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DISASTER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2889504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orbiter approached Mars at roughly 57 km altitude instead of the planned 140–150 km, and either burned up in the atmosphere or ricocheted back into space.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26280" y="4059936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754880" y="4187952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TECHNICAL CAUSE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4462272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team's software calculated thruster force in pound-force-seconds (Imperial units); NASA's navigation software expected newton-seconds (metric). The 4.45x mismatch accumulated over a nine-month voyage.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26280" y="5632704"/>
            <a:ext cx="7208215" cy="676656"/>
          </a:xfrm>
          <a:prstGeom prst="roundRect">
            <a:avLst>
              <a:gd name="adj" fmla="val 135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54880" y="5632704"/>
            <a:ext cx="6751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Lockheed Martin's ground software used lbf·s; NASA's navigation software expected N·s. No interface check ever verified the units actually matched.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21" name="Picture 20" descr="Mars Climate Orbiter: In 1999, a small unit mismatch sent NASA's Mars Climate Orbiter deep into the Martian atmosphere and led to the failure of the mission - The Economic Times">
            <a:extLst>
              <a:ext uri="{FF2B5EF4-FFF2-40B4-BE49-F238E27FC236}">
                <a16:creationId xmlns:a16="http://schemas.microsoft.com/office/drawing/2014/main" id="{1294A4A2-8CD4-54C5-7138-FAE355AC5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10" y="1538600"/>
            <a:ext cx="3875897" cy="3875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4 · RACE CONDITIONS, SAFETY-CRITICAL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sites, North America · 1985–1987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EEF1F7"/>
          </a:solidFill>
          <a:ln w="15875">
            <a:solidFill>
              <a:srgbClr val="B9C3D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25396" y="2699309"/>
            <a:ext cx="566928" cy="566928"/>
          </a:xfrm>
          <a:prstGeom prst="ellipse">
            <a:avLst/>
          </a:prstGeom>
          <a:solidFill>
            <a:srgbClr val="C9D2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ons/ima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59" y="2835372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339389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31997"/>
            <a:ext cx="315468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a radiation therapy machine,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medical-device control room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417320"/>
            <a:ext cx="7208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Therac-25 Radiation Overdoses</a:t>
            </a:r>
            <a:endParaRPr lang="en-US" sz="28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993392"/>
            <a:ext cx="7208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cautionary tale for every safety-critical system we now trust to software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526280" y="2487168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754880" y="2615184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DISASTER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2889504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radiation therapy machine delivered massive overdoses to at least six cancer patients — in some cases, over 100 times the intended dose — causing severe injury and death.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26280" y="4059936"/>
            <a:ext cx="72082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754880" y="4187952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TECHNICAL CAUSE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4462272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race condition let a fast-typing operator override a safety interlock. Removing hardware safety mechanisms present in earlier models — and trusting software alone — turned a rare timing bug into a lethal one.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26280" y="5632704"/>
            <a:ext cx="7208215" cy="676656"/>
          </a:xfrm>
          <a:prstGeom prst="roundRect">
            <a:avLst>
              <a:gd name="adj" fmla="val 135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54880" y="5632704"/>
            <a:ext cx="6751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hasn’t failed yet” is not the same as “it has been validated.” A bug occurring once in thousands of uses is still a bug in a life-critical system.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20" name="Picture 19" descr="Therac-25 - Wikipedia">
            <a:extLst>
              <a:ext uri="{FF2B5EF4-FFF2-40B4-BE49-F238E27FC236}">
                <a16:creationId xmlns:a16="http://schemas.microsoft.com/office/drawing/2014/main" id="{2D8116BB-FBA5-88DC-7156-B59676F06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8122"/>
            <a:ext cx="3840480" cy="5153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THE HUMAN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Bug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51586" y="425882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Every Bug: Real Human Consequences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01392" y="3584448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411804" y="3858768"/>
            <a:ext cx="585216" cy="585216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255" y="3999220"/>
            <a:ext cx="304312" cy="304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8552" y="460857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Engineers &amp; Scientists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538552" y="509320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Careers, reputations, and legal liability — and the weight of knowing your code contributed to harm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81752" y="3584448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292164" y="3858768"/>
            <a:ext cx="585216" cy="585216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615" y="3999220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418912" y="460857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&amp; Communities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3418912" y="509320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loss, and long-term grief from failures that were preventable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62112" y="3584448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172524" y="3858768"/>
            <a:ext cx="585216" cy="585216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assets/icons/univers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975" y="3999220"/>
            <a:ext cx="304312" cy="3043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99272" y="460857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Organizations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6299272" y="509320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Lawsuits, lost public trust, and years spent rebuilding credibility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042472" y="3584448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0052884" y="3858768"/>
            <a:ext cx="585216" cy="585216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assets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335" y="3999220"/>
            <a:ext cx="304312" cy="30431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179632" y="460857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Society</a:t>
            </a:r>
            <a:endParaRPr lang="en-US" sz="1550" dirty="0"/>
          </a:p>
        </p:txBody>
      </p:sp>
      <p:sp>
        <p:nvSpPr>
          <p:cNvPr id="29" name="Text 22"/>
          <p:cNvSpPr txBox="1"/>
          <p:nvPr/>
        </p:nvSpPr>
        <p:spPr>
          <a:xfrm>
            <a:off x="9179632" y="509320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scientific progress and stricter regulation that can slow beneficial innovation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31" name="Picture 30" descr="The Unity of Humanity: Recognising the Equal Value of Every Human Life">
            <a:extLst>
              <a:ext uri="{FF2B5EF4-FFF2-40B4-BE49-F238E27FC236}">
                <a16:creationId xmlns:a16="http://schemas.microsoft.com/office/drawing/2014/main" id="{AC037F09-AB3E-8338-C64A-3680B3701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3933" y="1423746"/>
            <a:ext cx="1961676" cy="1961676"/>
          </a:xfrm>
          <a:prstGeom prst="rect">
            <a:avLst/>
          </a:prstGeom>
        </p:spPr>
      </p:pic>
      <p:pic>
        <p:nvPicPr>
          <p:cNvPr id="32" name="Picture 31" descr="Why diversity helps to produce stronger research | Nature">
            <a:extLst>
              <a:ext uri="{FF2B5EF4-FFF2-40B4-BE49-F238E27FC236}">
                <a16:creationId xmlns:a16="http://schemas.microsoft.com/office/drawing/2014/main" id="{40C4E961-29DF-51CC-286F-95463CA27B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23" y="1682542"/>
            <a:ext cx="2606040" cy="1466814"/>
          </a:xfrm>
          <a:prstGeom prst="rect">
            <a:avLst/>
          </a:prstGeom>
        </p:spPr>
      </p:pic>
      <p:pic>
        <p:nvPicPr>
          <p:cNvPr id="33" name="Picture 32" descr="On the Agency and Pathology of International Organizations | International Organization and United Nations Studies Specialization (IOUNS)">
            <a:extLst>
              <a:ext uri="{FF2B5EF4-FFF2-40B4-BE49-F238E27FC236}">
                <a16:creationId xmlns:a16="http://schemas.microsoft.com/office/drawing/2014/main" id="{8ACE9E9B-439D-BFED-2832-3F1D74751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111" y="1542211"/>
            <a:ext cx="2559373" cy="1731341"/>
          </a:xfrm>
          <a:prstGeom prst="rect">
            <a:avLst/>
          </a:prstGeom>
        </p:spPr>
      </p:pic>
      <p:pic>
        <p:nvPicPr>
          <p:cNvPr id="34" name="Picture 33" descr="Societies or Society, and how theology has changed. | Making an ass of myself">
            <a:extLst>
              <a:ext uri="{FF2B5EF4-FFF2-40B4-BE49-F238E27FC236}">
                <a16:creationId xmlns:a16="http://schemas.microsoft.com/office/drawing/2014/main" id="{091C97CE-A6D0-7847-5776-0B01760BF1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295" y="1632443"/>
            <a:ext cx="2517994" cy="1452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3935" y="0"/>
            <a:ext cx="4937760" cy="6858000"/>
          </a:xfrm>
          <a:prstGeom prst="roundRect">
            <a:avLst>
              <a:gd name="adj" fmla="val 1481"/>
            </a:avLst>
          </a:prstGeom>
          <a:solidFill>
            <a:srgbClr val="1B2A4A"/>
          </a:solidFill>
          <a:ln w="15875">
            <a:solidFill>
              <a:srgbClr val="3E50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39351" y="1911096"/>
            <a:ext cx="566928" cy="566928"/>
          </a:xfrm>
          <a:prstGeom prst="ellipse">
            <a:avLst/>
          </a:prstGeom>
          <a:solidFill>
            <a:srgbClr val="2A3C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cons/image_gold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414" y="2047159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6815" y="2551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528255" y="2843784"/>
            <a:ext cx="4389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an abstract AI / neural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visual, or server &amp; data imagery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5973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More Than Ever</a:t>
            </a:r>
            <a:endParaRPr lang="en-US" sz="4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49040"/>
            <a:ext cx="5973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now write scientific computing code in seconds. That doesn't remove the risk of catastrophic failure — it changes who has to catch it.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10" name="Picture 9" descr="Understanding the Compute Hardware Behind Generative AI - Industry Articles">
            <a:extLst>
              <a:ext uri="{FF2B5EF4-FFF2-40B4-BE49-F238E27FC236}">
                <a16:creationId xmlns:a16="http://schemas.microsoft.com/office/drawing/2014/main" id="{8E8D1E8C-0E0C-8FDD-DE7F-930943B2B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867" y="1651173"/>
            <a:ext cx="4937760" cy="3716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IMPLICATIONS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Keep Escalating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Failure Modes, at a New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57988" y="1691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6588" y="192024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" y="20519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6588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Machine Learning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86588" y="2953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high-stakes predictions, poisoned training data, and unvalidated model outputs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89908" y="1691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18508" y="192024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laptop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181" y="20519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18508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Systems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4518508" y="2953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Sensor-fusion errors and split-second, life-or-death decisions in unpredictable environments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1828" y="1691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50428" y="192024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heartb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101" y="20519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0428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AI &amp; Diagnostics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8450428" y="2953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Misdiagnosis from biased training data and over-reliance on algorithmic recommendations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57988" y="38404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6588" y="406908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assets/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261" y="420075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6588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Modeling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586588" y="5102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decisions built on computational predictions — uncertainty must be quantified, not assumed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289908" y="38404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18508" y="406908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assets/icons/doll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0181" y="420075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18508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Systems</a:t>
            </a:r>
            <a:endParaRPr lang="en-US" sz="1650" dirty="0"/>
          </a:p>
        </p:txBody>
      </p:sp>
      <p:sp>
        <p:nvSpPr>
          <p:cNvPr id="29" name="Text 22"/>
          <p:cNvSpPr txBox="1"/>
          <p:nvPr/>
        </p:nvSpPr>
        <p:spPr>
          <a:xfrm>
            <a:off x="4518508" y="5102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 and risk models that can move — or crash — markets in milliseconds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221828" y="38404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450428" y="406908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assets/icons/flas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101" y="420075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450428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Reproducibility</a:t>
            </a:r>
            <a:endParaRPr lang="en-US" sz="1650" dirty="0"/>
          </a:p>
        </p:txBody>
      </p:sp>
      <p:sp>
        <p:nvSpPr>
          <p:cNvPr id="34" name="Text 26"/>
          <p:cNvSpPr txBox="1"/>
          <p:nvPr/>
        </p:nvSpPr>
        <p:spPr>
          <a:xfrm>
            <a:off x="8450428" y="5102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crisis of results that can't be reproduced due to fragile, unvalidated software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FAILURE MODE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Course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AI Code Looks Right — But Isn't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computational disaster may not come from a typo. It may come from code that compiles, runs, and produces a plausible-looking wrong answer.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72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63530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48716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generate working code fast — but “runs without error” is not the same as “numerically correct.”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assets/icons/b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35039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35584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 modes — ill-conditioning, unstable recursion, overflow — rarely throw an exception. They just quietly hand you the wrong number.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437266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22452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still has to ask: is this algorithm stable? Where will it fail? What test would prove this result is trustworthy?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assets/icons/gradc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1" y="524134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509320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someone is you. This course trains the validation mindset an AI-augmented world urgently needs.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3935" y="0"/>
            <a:ext cx="4937760" cy="6858000"/>
          </a:xfrm>
          <a:prstGeom prst="roundRect">
            <a:avLst>
              <a:gd name="adj" fmla="val 1481"/>
            </a:avLst>
          </a:prstGeom>
          <a:solidFill>
            <a:srgbClr val="1B2A4A"/>
          </a:solidFill>
          <a:ln w="15875">
            <a:solidFill>
              <a:srgbClr val="3E50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39351" y="1911096"/>
            <a:ext cx="566928" cy="566928"/>
          </a:xfrm>
          <a:prstGeom prst="ellipse">
            <a:avLst/>
          </a:prstGeom>
          <a:solidFill>
            <a:srgbClr val="2A3C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cons/image_gold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414" y="2047159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6815" y="2551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528255" y="2843784"/>
            <a:ext cx="4389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a lecture hall, chalkboard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equations, or a campus photo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5973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PHYS 5211</a:t>
            </a:r>
            <a:endParaRPr lang="en-US" sz="4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49040"/>
            <a:ext cx="5973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Computing, taught for the world we actually compute in today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10" name="Picture 9" descr="Master of Engineering in Computational Mechanics &amp; Scientific Computing | Duke Civil &amp; Environmental Engineering">
            <a:extLst>
              <a:ext uri="{FF2B5EF4-FFF2-40B4-BE49-F238E27FC236}">
                <a16:creationId xmlns:a16="http://schemas.microsoft.com/office/drawing/2014/main" id="{83F0D1CC-F170-B3E2-A75B-EE28787F4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934" y="1756414"/>
            <a:ext cx="4937759" cy="32918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 5211 · FALL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Essentials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57988" y="1691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2308" y="1965960"/>
            <a:ext cx="594360" cy="59436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chalk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" y="210860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63828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632308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Mauricio Santillana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m.santillana@northeastern.edu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89908" y="1691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64228" y="1965960"/>
            <a:ext cx="594360" cy="59436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874" y="21086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95748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Time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4564228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&amp; Friday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3:25 PM – 5:05 PM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221828" y="1691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96148" y="1965960"/>
            <a:ext cx="594360" cy="59436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794" y="210860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27668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8496148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cs typeface="Calibri" pitchFamily="34" charset="-120"/>
              </a:rPr>
              <a:t>West Village F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108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57988" y="38404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32308" y="4114800"/>
            <a:ext cx="594360" cy="59436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assets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" y="425744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63828" y="4133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Hours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632308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&amp; Fri, 5:00–6:00 PM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room, or by appointment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289908" y="38404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64228" y="4114800"/>
            <a:ext cx="594360" cy="59436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assets/icons/boo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6874" y="4257446"/>
            <a:ext cx="309067" cy="30906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95748" y="4133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Text</a:t>
            </a:r>
            <a:endParaRPr lang="en-US" sz="1650" dirty="0"/>
          </a:p>
        </p:txBody>
      </p:sp>
      <p:sp>
        <p:nvSpPr>
          <p:cNvPr id="29" name="Text 22"/>
          <p:cNvSpPr txBox="1"/>
          <p:nvPr/>
        </p:nvSpPr>
        <p:spPr>
          <a:xfrm>
            <a:off x="4564228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Heath, Scientific Computing: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Introductory Survey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21828" y="38404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496148" y="4114800"/>
            <a:ext cx="594360" cy="59436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assets/icons/laptopCod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8794" y="4257446"/>
            <a:ext cx="309067" cy="30906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227668" y="4133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50" dirty="0"/>
          </a:p>
        </p:txBody>
      </p:sp>
      <p:sp>
        <p:nvSpPr>
          <p:cNvPr id="34" name="Text 26"/>
          <p:cNvSpPr txBox="1"/>
          <p:nvPr/>
        </p:nvSpPr>
        <p:spPr>
          <a:xfrm>
            <a:off x="8496148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(primary) or Python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 AI coding assistant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DESCRIPTION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Course, Why Now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Computational Guardian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10728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era where AI assistants can generate scientific computing code in seconds, this course prepares you to be the critical validator in an AI-augmented computational world — the engineer or scientist who knows not just how to generate code, but how to verify it won't fail catastrophically.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25400" y="37033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22680" y="3904488"/>
            <a:ext cx="548640" cy="54864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353" y="4036162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89992" y="45720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algorithm numerically stable?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24632" y="37033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21912" y="3904488"/>
            <a:ext cx="548640" cy="54864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assets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85" y="40361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9224" y="45720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specifically, will this code fail?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23864" y="37033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21144" y="3904488"/>
            <a:ext cx="548640" cy="54864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817" y="403616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88456" y="45720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verify a result an AI assistant handed me?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223096" y="37033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320376" y="3904488"/>
            <a:ext cx="548640" cy="54864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assets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049" y="403616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87688" y="45720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 would prove this computation is trustworthy?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553212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731520" y="5605272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about replacing AI tools — it's about becoming the person who ensures they work correctly when lives and billions of dollars are on the line.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Semester, You Will...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57988" y="1691640"/>
            <a:ext cx="36118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6588" y="192024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" y="20519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6588" y="260604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numerical stability of an algorithm — whether a human or an AI wrote 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89908" y="1691640"/>
            <a:ext cx="36118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18508" y="192024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assets/icons/b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181" y="20519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8508" y="260604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sources of computational error: floating point, conditioning, instability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1828" y="1691640"/>
            <a:ext cx="36118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50428" y="192024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assets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101" y="20519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0428" y="260604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systematic validation framework to verify a computation is correct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7988" y="3657600"/>
            <a:ext cx="36118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86588" y="388620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assets/icon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261" y="40178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6588" y="457200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robust numerical algorithms with real error handling and convergence checks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89908" y="3657600"/>
            <a:ext cx="36118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518508" y="388620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assets/icons/char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0181" y="401787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518508" y="457200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accuracy vs. efficiency trade-offs for a given scientific computing application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221828" y="3657600"/>
            <a:ext cx="36118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8450428" y="388620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/home/claude/assets/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101" y="4017874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450428" y="457200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and validate code generated by AI assistants before you trust it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CONTENT · 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Foundations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Topics: Foundations Through Transforms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67128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8928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Foundations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2860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arithmetic, condition numbers, error propagation, backward/forward error analysis — including the numerically stable softmax trick used in every ML library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35478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projec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6732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34930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Computing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38862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&amp; iterative solvers, LU/QR/SVD/Cholesky decompositions, eigenvalues, ill-conditioned systems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57200" y="48920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51480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wav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36752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50932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Methods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54864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Fourier Transform, spectral analysis, aliasing and leakage, time-frequency analysis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CONTENT · 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Methods and Optimization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Topics: Data Methods &amp; Optimization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67128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8928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Methods &amp; ML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2860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squares, regularization (ridge/LASSO), splines, cross-validation, and detecting overfitting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35478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6732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34930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Finding &amp; Optimization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38862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convergence, basins of attraction, constrained optimization, global optimization challenges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57200" y="48920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51480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36752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50932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Equations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54864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value problems, stiffness and stability regions, adaptive step-size control, boundary value problems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CONTENT · 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Course Current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Topics: Automatic Differentiation &amp; the AI Era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67128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8928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Differentiation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2860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Reverse-mode autodiff (backpropagation) vs. forward-mode; the chain rule as a computational graph — how every deep learning library actually computes gradients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35478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6732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34930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Validation &amp; Stability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38862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checking against finite differences; vanishing/exploding gradients; why they happen numerically and how to detect them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57200" y="48920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5148072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36752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50932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Deployment Realities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54864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&amp; quantization error, reproducibility failures in ML pipelines, and validating AI-generated code before you trust it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3935" y="0"/>
            <a:ext cx="4937760" cy="6858000"/>
          </a:xfrm>
          <a:prstGeom prst="roundRect">
            <a:avLst>
              <a:gd name="adj" fmla="val 1481"/>
            </a:avLst>
          </a:prstGeom>
          <a:solidFill>
            <a:srgbClr val="1B2A4A"/>
          </a:solidFill>
          <a:ln w="15875">
            <a:solidFill>
              <a:srgbClr val="3E50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39351" y="1911096"/>
            <a:ext cx="566928" cy="566928"/>
          </a:xfrm>
          <a:prstGeom prst="ellipse">
            <a:avLst/>
          </a:prstGeom>
          <a:solidFill>
            <a:srgbClr val="2A3C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cons/image_gold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414" y="2047159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6815" y="2551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528255" y="2843784"/>
            <a:ext cx="4389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students collaborating,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whiteboard discussion photo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5973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Learn</a:t>
            </a:r>
            <a:endParaRPr lang="en-US" sz="4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49040"/>
            <a:ext cx="5973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way of doing homework — built around AI-assisted problem solving and deepening your own understanding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pic>
        <p:nvPicPr>
          <p:cNvPr id="10" name="Picture 9" descr="Humans + AI: The Hybrid Future for Contact Centers - Natterbox">
            <a:extLst>
              <a:ext uri="{FF2B5EF4-FFF2-40B4-BE49-F238E27FC236}">
                <a16:creationId xmlns:a16="http://schemas.microsoft.com/office/drawing/2014/main" id="{246D7C62-A764-2F0C-B7EE-64F03D425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773" y="1483674"/>
            <a:ext cx="4860084" cy="37779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SETS, REIMAGINED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AI-Augmented Workflow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It Yourself. Then Put AI to the Test.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16840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18108" y="2057400"/>
            <a:ext cx="694944" cy="694944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894" y="2224187"/>
            <a:ext cx="361371" cy="36137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81432" y="292608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Implement It Yourself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99720" y="35661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problem the traditional way in MATLAB or Python — your own code, your own thinking</a:t>
            </a:r>
            <a:endParaRPr lang="en-US" sz="1350" dirty="0"/>
          </a:p>
        </p:txBody>
      </p:sp>
      <p:pic>
        <p:nvPicPr>
          <p:cNvPr id="10" name="Image 1" descr="/home/claude/assets/icons/arrowRigh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608" y="320040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70352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71620" y="2057400"/>
            <a:ext cx="694944" cy="694944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assets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406" y="2224187"/>
            <a:ext cx="361371" cy="36137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34944" y="292608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Generate an AI Solution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53232" y="35661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Claude, ChatGPT, or a similar tool to solve the same problem — with full attribution</a:t>
            </a:r>
            <a:endParaRPr lang="en-US" sz="1350" dirty="0"/>
          </a:p>
        </p:txBody>
      </p:sp>
      <p:pic>
        <p:nvPicPr>
          <p:cNvPr id="16" name="Image 3" descr="/home/claude/assets/icons/arrowRigh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3200400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23864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7225132" y="2057400"/>
            <a:ext cx="694944" cy="694944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/home/claude/assets/icons/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918" y="2224187"/>
            <a:ext cx="361371" cy="36137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88456" y="292608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Validate &amp; Compare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6406744" y="35661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implementations. Where do they agree? Where does the AI version quietly go wrong?</a:t>
            </a:r>
            <a:endParaRPr lang="en-US" sz="1350" dirty="0"/>
          </a:p>
        </p:txBody>
      </p:sp>
      <p:pic>
        <p:nvPicPr>
          <p:cNvPr id="22" name="Image 5" descr="/home/claude/assets/icons/arrowRigh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632" y="3200400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77376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10178644" y="2057400"/>
            <a:ext cx="694944" cy="694944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/home/claude/assets/icons/comment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5430" y="2224187"/>
            <a:ext cx="361371" cy="361371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341968" y="292608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Explain What You Learned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9360256" y="35661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reasoning and findings to me and your peers — this is where the real learning shows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THIS COURSE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About the Right Answer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Matters Most: Explaining What You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7295" cy="1188720"/>
          </a:xfrm>
          <a:prstGeom prst="roundRect">
            <a:avLst>
              <a:gd name="adj" fmla="val 7692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solve every homework problem on your own. But the most important part of each assignment is explaining — to me and to your peers — what you learned, where you struggled, and why.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16840" y="3063240"/>
            <a:ext cx="26974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45540" y="3319272"/>
            <a:ext cx="640080" cy="6400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159" y="3472891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4000" y="4069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Oral Explanations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1432" y="443484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walk me and your classmates through your reasoning — not just your final code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70352" y="3063240"/>
            <a:ext cx="26974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99052" y="3319272"/>
            <a:ext cx="640080" cy="6400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assets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671" y="3472891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07512" y="4069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Discussion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434944" y="443484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notes with classmates surfaces the failure modes any one person might miss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23864" y="3063240"/>
            <a:ext cx="26974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52564" y="3319272"/>
            <a:ext cx="640080" cy="6400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assets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183" y="3472891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61024" y="4069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 Check-ins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88456" y="443484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probe whether you truly understand the code you submitted — AI-assisted or not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177376" y="3063240"/>
            <a:ext cx="26974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206076" y="3319272"/>
            <a:ext cx="640080" cy="6400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assets/icons/gradc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9695" y="3472891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14536" y="4069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Understanding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341968" y="443484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 idea back is the fastest way to discover what you don't yet understand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ACTIVITIES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Problem Sets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Workshops, Case Studies, and a Final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914400" cy="91440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67128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8928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Validation Workshops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2860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human- and AI-written code together, hunt for numerical issues, and design test cases live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3547872"/>
            <a:ext cx="914400" cy="91440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skul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6732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34930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Case Study Presentations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38862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historical computational disaster: root cause, why it went undetected, how validation could have caught it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57200" y="489204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5148072"/>
            <a:ext cx="914400" cy="91440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laptop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36752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509320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Validation Project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54864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problem, solved with both manual and AI-assisted code, backed by a rigorous validation framework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Grade Is Built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Breakdown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51206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828800"/>
            <a:ext cx="411480" cy="4114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235" y="19275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20840" y="17556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traditional exams — assessment is built entirely around applied validation skills.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126480" y="2880360"/>
            <a:ext cx="411480" cy="4114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235" y="2979115"/>
            <a:ext cx="213970" cy="21397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20840" y="28072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+10% bonus available for in-class participation and workshops.</a:t>
            </a:r>
            <a:endParaRPr lang="en-US" sz="1550" dirty="0"/>
          </a:p>
        </p:txBody>
      </p:sp>
      <p:sp>
        <p:nvSpPr>
          <p:cNvPr id="15" name="Text 9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This Semester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Dates to Plan Around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11096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91109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15,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837944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Proposal Due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221992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page: problem description, validation strategy, success metrics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98648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3118104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3118104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15, 2026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044952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 Due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429000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and validation findings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05656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432511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432511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7, 2026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4251960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Report &amp; Code Due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636008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write-up, implementation, and validation framework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312664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553212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5800" y="553212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11–13, 2026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5458968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Presentations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5843016"/>
            <a:ext cx="8625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of your validation techniques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3935" y="0"/>
            <a:ext cx="4937760" cy="6858000"/>
          </a:xfrm>
          <a:prstGeom prst="roundRect">
            <a:avLst>
              <a:gd name="adj" fmla="val 1481"/>
            </a:avLst>
          </a:prstGeom>
          <a:solidFill>
            <a:srgbClr val="1B2A4A"/>
          </a:solidFill>
          <a:ln w="15875">
            <a:solidFill>
              <a:srgbClr val="3E50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39351" y="1911096"/>
            <a:ext cx="566928" cy="566928"/>
          </a:xfrm>
          <a:prstGeom prst="ellipse">
            <a:avLst/>
          </a:prstGeom>
          <a:solidFill>
            <a:srgbClr val="2A3C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cons/image_gold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414" y="2047159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6815" y="2551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HERE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528255" y="2843784"/>
            <a:ext cx="4389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a chalkboard of equations,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 elegant mathematical diagram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3106" y="2651760"/>
            <a:ext cx="5973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Problems Like a Scientist</a:t>
            </a:r>
            <a:endParaRPr lang="en-US" sz="4250" dirty="0"/>
          </a:p>
        </p:txBody>
      </p:sp>
      <p:sp>
        <p:nvSpPr>
          <p:cNvPr id="8" name="Text 5"/>
          <p:cNvSpPr txBox="1"/>
          <p:nvPr/>
        </p:nvSpPr>
        <p:spPr>
          <a:xfrm>
            <a:off x="63106" y="3749040"/>
            <a:ext cx="5973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compute anything — human-written or AI-generated — we must ask whether the problem itself is well-posed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pic>
        <p:nvPicPr>
          <p:cNvPr id="10" name="Picture 9" descr="Understanding Well-Posed Problems | PDF | Analysis | Functions And Mappings">
            <a:extLst>
              <a:ext uri="{FF2B5EF4-FFF2-40B4-BE49-F238E27FC236}">
                <a16:creationId xmlns:a16="http://schemas.microsoft.com/office/drawing/2014/main" id="{DFB960CF-4663-B47D-8C73-207C288FF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72" y="-309093"/>
            <a:ext cx="6035167" cy="8046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HEATH, CH. 1 · MATHEMATICAL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That Comes Before Any Code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Problem “Well-Posed”?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Hadamard's three conditions — every computation implicitly assumes them, and every validator must check them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7988" y="214884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43888" y="2423160"/>
            <a:ext cx="640080" cy="6400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07" y="257677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0868" y="32461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Solution Exists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586588" y="374904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must actually have an answer — not every equation we write down does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89908" y="214884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75808" y="2423160"/>
            <a:ext cx="640080" cy="6400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427" y="25767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72788" y="32461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Is Unique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4518508" y="374904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should be exactly one answer; multiple valid solutions signal an underspecified problem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21828" y="214884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707728" y="2423160"/>
            <a:ext cx="640080" cy="64008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347" y="25767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4708" y="32461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Depends Continuously on the Data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8450428" y="374904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change in the input should produce only a small change in the output — not a wild swing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11277295" cy="960120"/>
          </a:xfrm>
          <a:prstGeom prst="roundRect">
            <a:avLst>
              <a:gd name="adj" fmla="val 952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731520" y="489204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problem violates any one of these, it is ill-posed — and no amount of clever code, human or AI-written, can make an ill-posed problem trustworthy to solve.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HEATH, CH. 1 · CONDITIONING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Well-Posedness to Conditioning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Well-Posed Isn't the Same as Well-Behaved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can be well-posed in theory and still be practically dangerous to compute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50148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548640" cy="54864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24633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233172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WELL-CONDITIONED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63240"/>
            <a:ext cx="504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perturbation in the input data — measurement noise, rounding, an AI-generated approximation — produces a proportionally small change in the answer.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6177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to compute, even with imperfect data.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33008" y="2103120"/>
            <a:ext cx="5501488" cy="3063240"/>
          </a:xfrm>
          <a:prstGeom prst="roundRect">
            <a:avLst>
              <a:gd name="adj" fmla="val 2985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61608" y="2331720"/>
            <a:ext cx="548640" cy="548640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assets/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281" y="24633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47408" y="233172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0A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ILL-CONDITIONED</a:t>
            </a:r>
            <a:endParaRPr lang="en-US" sz="1750" dirty="0"/>
          </a:p>
        </p:txBody>
      </p:sp>
      <p:sp>
        <p:nvSpPr>
          <p:cNvPr id="16" name="Text 12"/>
          <p:cNvSpPr txBox="1"/>
          <p:nvPr/>
        </p:nvSpPr>
        <p:spPr>
          <a:xfrm>
            <a:off x="6461608" y="3063240"/>
            <a:ext cx="504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tiny perturbation gets amplified — sometimes enormously — into a huge change in the answer. Nearly-singular matrices and Runge's phenomenon are classic examples.</a:t>
            </a:r>
            <a:endParaRPr lang="en-US" sz="1650" dirty="0"/>
          </a:p>
        </p:txBody>
      </p:sp>
      <p:sp>
        <p:nvSpPr>
          <p:cNvPr id="17" name="Text 13"/>
          <p:cNvSpPr txBox="1"/>
          <p:nvPr/>
        </p:nvSpPr>
        <p:spPr>
          <a:xfrm>
            <a:off x="6461608" y="46177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F0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to compute — the condition number tells you how dangerous.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to Ask Before You Trust Any Result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Well-Posedness Is Your First Validation Check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729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93392"/>
            <a:ext cx="621792" cy="621792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0" y="2142622"/>
            <a:ext cx="323332" cy="3233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01952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any algorithm — yours or an AI's — ask: is the underlying problem even well-posed?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57200" y="2944368"/>
            <a:ext cx="1127729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3108960"/>
            <a:ext cx="621792" cy="621792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assets/icons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30" y="3258190"/>
            <a:ext cx="323332" cy="3233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01752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ill-posed or ill-conditioned, a correct-looking implementation can still return a meaningless number.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457200" y="4059936"/>
            <a:ext cx="1127729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85800" y="4224528"/>
            <a:ext cx="621792" cy="621792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assets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30" y="4373758"/>
            <a:ext cx="323332" cy="3233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4133088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will confidently produce an answer either way — they don't know to ask whether the question was fair to ask.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457200" y="5175504"/>
            <a:ext cx="1127729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85800" y="5340096"/>
            <a:ext cx="621792" cy="621792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assets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30" y="5489326"/>
            <a:ext cx="323332" cy="3233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5248656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do. That judgment — knowing when to distrust a plausible answer — is what this course is built to train.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Tools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Need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23948" y="1737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98268" y="2011680"/>
            <a:ext cx="621792" cy="621792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498" y="2160910"/>
            <a:ext cx="323332" cy="3233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75508" y="20482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Textbook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2598268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Heath, Scientific Computing: An Introductory Survey (course reference, no purchase required — provided on Canvas)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55868" y="1737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30188" y="2011680"/>
            <a:ext cx="621792" cy="621792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laptop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18" y="2160910"/>
            <a:ext cx="323332" cy="3233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07428" y="20482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</a:t>
            </a:r>
            <a:endParaRPr lang="en-US" sz="1750" dirty="0"/>
          </a:p>
        </p:txBody>
      </p:sp>
      <p:sp>
        <p:nvSpPr>
          <p:cNvPr id="14" name="Text 10"/>
          <p:cNvSpPr txBox="1"/>
          <p:nvPr/>
        </p:nvSpPr>
        <p:spPr>
          <a:xfrm>
            <a:off x="6530188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(campus license, ~2 hr tutorial required) or Python with NumPy/SciPy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323948" y="3886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598268" y="4160520"/>
            <a:ext cx="621792" cy="621792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498" y="4309750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75508" y="41970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</a:t>
            </a:r>
            <a:endParaRPr lang="en-US" sz="1750" dirty="0"/>
          </a:p>
        </p:txBody>
      </p:sp>
      <p:sp>
        <p:nvSpPr>
          <p:cNvPr id="19" name="Text 14"/>
          <p:cNvSpPr txBox="1"/>
          <p:nvPr/>
        </p:nvSpPr>
        <p:spPr>
          <a:xfrm>
            <a:off x="2598268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ChatGPT, Claude, Copilot, or similar — free tiers are acceptable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255868" y="3886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30188" y="4160520"/>
            <a:ext cx="621792" cy="621792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assets/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18" y="4309750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07428" y="41970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1750" dirty="0"/>
          </a:p>
        </p:txBody>
      </p:sp>
      <p:sp>
        <p:nvSpPr>
          <p:cNvPr id="24" name="Text 18"/>
          <p:cNvSpPr txBox="1"/>
          <p:nvPr/>
        </p:nvSpPr>
        <p:spPr>
          <a:xfrm>
            <a:off x="6530188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hub for materials, submissions, announcements, and the detailed weekly schedule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SCHEDULE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Semester at a Glance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Roadmap (Tentative)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1–3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581912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floating point (incl. stable softmax), error analysis, condition numbers &amp; stability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1127729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304288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8368" y="23042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4–7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258568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systems, matrix decompositions, and eigenvalue computation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127729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" y="2980944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8368" y="29809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8–10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2935224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squares, interpolation, and the Fast Fourier Transform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1127729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" y="365760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8368" y="36576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11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3611880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finding and optimization: convergence and basins of attraction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61104"/>
            <a:ext cx="1127729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8368" y="433425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8368" y="433425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12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4288536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differential equations: stiffness, stability, adaptive methods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7729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8368" y="5010912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58368" y="501091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13–14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4965192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differentiation &amp; backpropagation, reproducibility, and uncertainty quantification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5614416"/>
            <a:ext cx="1127729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368" y="5687568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58368" y="56875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15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641848"/>
            <a:ext cx="90827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presentations &amp; course synthesis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991295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Policy That Makes This Work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to Use AI. Required to Validate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01488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847088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384048" cy="384048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2469612"/>
            <a:ext cx="199705" cy="199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194560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tools as part of your learning process — it's required, not optional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56689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3186684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which tools you used and for what purpose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4572000"/>
            <a:ext cx="384048" cy="384048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4664172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4389120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AI-generated result through testing and understanding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691640"/>
            <a:ext cx="5501488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6461608" y="1847088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A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PROHIBITED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6461608" y="2377440"/>
            <a:ext cx="384048" cy="384048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assets/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779" y="2469612"/>
            <a:ext cx="199705" cy="199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10247" y="2057400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AI code you can't explain or haven't validated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61608" y="3474720"/>
            <a:ext cx="384048" cy="384048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assets/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779" y="3566892"/>
            <a:ext cx="199705" cy="199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10247" y="3154680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any code — peer, internet, or AI — without attribution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461608" y="4572000"/>
            <a:ext cx="384048" cy="384048"/>
          </a:xfrm>
          <a:prstGeom prst="ellipse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/home/claude/assets/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779" y="4664172"/>
            <a:ext cx="199705" cy="199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10247" y="4251960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or skipping validation results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59475" y="451256"/>
            <a:ext cx="472745" cy="472745"/>
          </a:xfrm>
          <a:prstGeom prst="ellipse">
            <a:avLst/>
          </a:prstGeom>
          <a:solidFill>
            <a:srgbClr val="2A3C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 the Next Disaster</a:t>
            </a:r>
            <a:endParaRPr lang="en-US" sz="4500" dirty="0"/>
          </a:p>
        </p:txBody>
      </p:sp>
      <p:sp>
        <p:nvSpPr>
          <p:cNvPr id="8" name="Shape 5"/>
          <p:cNvSpPr/>
          <p:nvPr/>
        </p:nvSpPr>
        <p:spPr>
          <a:xfrm>
            <a:off x="1280160" y="3063240"/>
            <a:ext cx="9631375" cy="914400"/>
          </a:xfrm>
          <a:prstGeom prst="roundRect">
            <a:avLst>
              <a:gd name="adj" fmla="val 10000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508760" y="3136392"/>
            <a:ext cx="91741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i="1" dirty="0">
                <a:solidFill>
                  <a:srgbClr val="D9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scientific computing not merely to earn a grade — but to become someone whose validation others can trust with their lives.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72288" y="42519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500988" y="4471416"/>
            <a:ext cx="548640" cy="54864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661" y="460309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9448" y="51114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Deeply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636880" y="544068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mathematics behind every algorithm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352648" y="42519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381348" y="4471416"/>
            <a:ext cx="548640" cy="54864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/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021" y="460309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489808" y="51114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Rigorously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3517240" y="544068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assumption and intermediate result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33008" y="42519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261708" y="4471416"/>
            <a:ext cx="548640" cy="54864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assets/icon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381" y="460309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70168" y="51114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Thoroughly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6397600" y="544068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others can trust with their lives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113368" y="42519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E4E"/>
          </a:solidFill>
          <a:ln w="12700">
            <a:solidFill>
              <a:srgbClr val="324467"/>
            </a:solidFill>
            <a:prstDash val="solid"/>
          </a:ln>
          <a:effectLst>
            <a:outerShdw blurRad="127000" dist="25400" dir="54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0142068" y="4471416"/>
            <a:ext cx="548640" cy="54864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assets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741" y="4603090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250528" y="51114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Safeguards</a:t>
            </a:r>
            <a:endParaRPr lang="en-US" sz="1550" dirty="0"/>
          </a:p>
        </p:txBody>
      </p:sp>
      <p:sp>
        <p:nvSpPr>
          <p:cNvPr id="29" name="Text 22"/>
          <p:cNvSpPr txBox="1"/>
          <p:nvPr/>
        </p:nvSpPr>
        <p:spPr>
          <a:xfrm>
            <a:off x="9277960" y="544068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people your code ultimately serves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1280160" y="608076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9B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become a guardian of computational integrity?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D9B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begin.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pic>
        <p:nvPicPr>
          <p:cNvPr id="32" name="Picture 31" descr="270+ Natural Disaster Pictures | Download Free Images &amp; Stock Photos on Unsplash">
            <a:extLst>
              <a:ext uri="{FF2B5EF4-FFF2-40B4-BE49-F238E27FC236}">
                <a16:creationId xmlns:a16="http://schemas.microsoft.com/office/drawing/2014/main" id="{0246DC74-6CD6-2794-140B-DBE17DF9F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05" y="207771"/>
            <a:ext cx="3118030" cy="2078687"/>
          </a:xfrm>
          <a:prstGeom prst="rect">
            <a:avLst/>
          </a:prstGeom>
        </p:spPr>
      </p:pic>
      <p:pic>
        <p:nvPicPr>
          <p:cNvPr id="33" name="Picture 32" descr="6 ways supercomputers help prevent natural hazards from becoming natural disasters | HuffPost Contributor">
            <a:extLst>
              <a:ext uri="{FF2B5EF4-FFF2-40B4-BE49-F238E27FC236}">
                <a16:creationId xmlns:a16="http://schemas.microsoft.com/office/drawing/2014/main" id="{A29BD2B2-3622-3ED9-765A-84CC45E165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706" y="195930"/>
            <a:ext cx="2911968" cy="2069953"/>
          </a:xfrm>
          <a:prstGeom prst="rect">
            <a:avLst/>
          </a:prstGeom>
        </p:spPr>
      </p:pic>
      <p:pic>
        <p:nvPicPr>
          <p:cNvPr id="34" name="Picture 33" descr="Autonomous robots for disaster management - AI for Good">
            <a:extLst>
              <a:ext uri="{FF2B5EF4-FFF2-40B4-BE49-F238E27FC236}">
                <a16:creationId xmlns:a16="http://schemas.microsoft.com/office/drawing/2014/main" id="{FB0546B9-64E1-9E02-C204-F91CF5BFB7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507" y="228124"/>
            <a:ext cx="2812794" cy="198904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685800"/>
            <a:ext cx="914400" cy="914400"/>
          </a:xfrm>
          <a:prstGeom prst="ellipse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9052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8288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 Let's Talk.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2804008" y="2743200"/>
            <a:ext cx="457200" cy="45720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assets/icons/chalk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736" y="285292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44088" y="2697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Mauricio Santillana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2804008" y="3401568"/>
            <a:ext cx="457200" cy="45720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/home/claude/assets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736" y="35112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444088" y="33558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m.santillana@northeastern.edu  (include “PHYS 5211” in your subject line)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2804008" y="4059936"/>
            <a:ext cx="457200" cy="45720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home/claude/assets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736" y="416966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444088" y="401421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Tuesday &amp; Friday, 5:00–6:00 PM, Room 207</a:t>
            </a:r>
            <a:endParaRPr lang="en-US" sz="1650" dirty="0"/>
          </a:p>
        </p:txBody>
      </p:sp>
      <p:sp>
        <p:nvSpPr>
          <p:cNvPr id="14" name="Shape 8"/>
          <p:cNvSpPr/>
          <p:nvPr/>
        </p:nvSpPr>
        <p:spPr>
          <a:xfrm>
            <a:off x="2804008" y="4718304"/>
            <a:ext cx="457200" cy="457200"/>
          </a:xfrm>
          <a:prstGeom prst="ellipse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/home/claude/assets/icons/m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36" y="482803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444088" y="467258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Belvidere Ave</a:t>
            </a:r>
            <a:endParaRPr lang="en-US" sz="1650" dirty="0"/>
          </a:p>
        </p:txBody>
      </p:sp>
      <p:sp>
        <p:nvSpPr>
          <p:cNvPr id="18" name="Shape 11"/>
          <p:cNvSpPr/>
          <p:nvPr/>
        </p:nvSpPr>
        <p:spPr>
          <a:xfrm>
            <a:off x="5980176" y="5570068"/>
            <a:ext cx="231343" cy="231343"/>
          </a:xfrm>
          <a:prstGeom prst="ellipse">
            <a:avLst/>
          </a:prstGeom>
          <a:solidFill>
            <a:srgbClr val="2A3C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4203</TotalTime>
  <Words>3007</Words>
  <Application>Microsoft Macintosh PowerPoint</Application>
  <PresentationFormat>Widescreen</PresentationFormat>
  <Paragraphs>417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Santillana Guzman, Mauricio</cp:lastModifiedBy>
  <cp:revision>7</cp:revision>
  <dcterms:created xsi:type="dcterms:W3CDTF">2026-09-11T14:48:53Z</dcterms:created>
  <dcterms:modified xsi:type="dcterms:W3CDTF">2026-09-14T12:54:05Z</dcterms:modified>
</cp:coreProperties>
</file>